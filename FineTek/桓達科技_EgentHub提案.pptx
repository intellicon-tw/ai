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837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BDD8"/>
                </a:solidFill>
              </a:rPr>
              <a:t>桓達科技（FineTek）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EgentHub AI Agent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導入提案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1E4A82"/>
          </a:solidFill>
          <a:ln w="12700">
            <a:solidFill>
              <a:srgbClr val="3A6A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7 個工作室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333756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1E4A82"/>
          </a:solidFill>
          <a:ln w="12700">
            <a:solidFill>
              <a:srgbClr val="3A6A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286000" y="3337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19 個 AI 助理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333756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1E4A82"/>
          </a:solidFill>
          <a:ln w="12700">
            <a:solidFill>
              <a:srgbClr val="3A6A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297680" y="3337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POC 開發包已備妥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8046720" cy="0"/>
          </a:xfrm>
          <a:prstGeom prst="line">
            <a:avLst/>
          </a:prstGeom>
          <a:noFill/>
          <a:ln w="12700">
            <a:solidFill>
              <a:srgbClr val="2A4A7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4864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9C0"/>
                </a:solidFill>
              </a:rPr>
              <a:t>提案單位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精誠資訊股份有限公司  Systex Corporation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5902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9C0"/>
                </a:solidFill>
              </a:rPr>
              <a:t>技術合作夥伴：智慧方案股份有限公司  Intellicon Solutions LLC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05C1A"/>
                </a:solidFill>
              </a:rPr>
              <a:t>EgentHub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4663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9C0"/>
                </a:solidFill>
              </a:rPr>
              <a:t>Enterprise AI Agent 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C5E"/>
          </a:solidFill>
          <a:ln w="12700">
            <a:solidFill>
              <a:srgbClr val="0B2C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關於桓達科技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393192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C5E"/>
                </a:solidFill>
              </a:rPr>
              <a:t>公司概覽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520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340"/>
                </a:solidFill>
              </a:rPr>
              <a:t>股票代號：4549（上櫃，2014）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340"/>
                </a:solidFill>
              </a:rPr>
              <a:t>品牌：FineTek（亞洲第一大工業電子感測器）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340"/>
                </a:solidFill>
              </a:rPr>
              <a:t>旗下品牌：mutec Instrument（歐洲）、A+Fine（北美）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340"/>
                </a:solidFill>
              </a:rPr>
              <a:t>五座製造工廠：台灣 3 座、上海 1 座、德國 1 座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340"/>
                </a:solidFill>
              </a:rPr>
              <a:t>全球銷售據點：中國 9 子公司 + 新加坡、印尼、馬來西亞、德國、美國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340"/>
                </a:solidFill>
              </a:rPr>
              <a:t>200+ 全球專利、100+ 工業認證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340"/>
                </a:solidFill>
              </a:rPr>
              <a:t>荣获 第 20 屆國家品質獎、國家磐石獎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2011680" cy="914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681728" y="103327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4A8A"/>
                </a:solidFill>
              </a:rPr>
              <a:t>感測器製造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81728" y="13716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80"/>
                </a:solidFill>
              </a:rPr>
              <a:t>料位、流量、溫濕度、壓力感測器，製程高度仰賴技術文件與規格管理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66560" y="86868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766560" y="868680"/>
            <a:ext cx="2011680" cy="914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876288" y="103327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A"/>
                </a:solidFill>
              </a:rPr>
              <a:t>全球多廠布局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76288" y="137160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80"/>
                </a:solidFill>
              </a:rPr>
              <a:t>5 座工廠、跨國業務、多語言溝通需求，資訊標準化挑戰大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8346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572000" y="2834640"/>
            <a:ext cx="2011680" cy="91440"/>
          </a:xfrm>
          <a:prstGeom prst="rect">
            <a:avLst/>
          </a:prstGeom>
          <a:solidFill>
            <a:srgbClr val="7B3EA8"/>
          </a:solidFill>
          <a:ln w="12700">
            <a:solidFill>
              <a:srgbClr val="7B3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681728" y="299923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3EA8"/>
                </a:solidFill>
              </a:rPr>
              <a:t>研發驅動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81728" y="333756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80"/>
                </a:solidFill>
              </a:rPr>
              <a:t>200+ 專利、參與 IEC 國際標準制定，研發知識管理需求迫切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283464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766560" y="2834640"/>
            <a:ext cx="2011680" cy="91440"/>
          </a:xfrm>
          <a:prstGeom prst="rect">
            <a:avLst/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876288" y="299923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000"/>
                </a:solidFill>
              </a:rPr>
              <a:t>多認證體系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76288" y="3337560"/>
            <a:ext cx="1792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80"/>
                </a:solidFill>
              </a:rPr>
              <a:t>ATEX、IECEx、ASME、CE、UL 等複雜認證，查詢效率直接影響出口速度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3ED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C5E"/>
          </a:solidFill>
          <a:ln w="12700">
            <a:solidFill>
              <a:srgbClr val="0B2C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EgentHub — 企業 AI Agent 管理平台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621792"/>
          </a:xfrm>
          <a:prstGeom prst="rect">
            <a:avLst/>
          </a:prstGeom>
          <a:solidFill>
            <a:srgbClr val="E8F0FB"/>
          </a:solidFill>
          <a:ln w="12700">
            <a:solidFill>
              <a:srgbClr val="C0D0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4A8A"/>
                </a:solidFill>
              </a:rPr>
              <a:t>協助企業將標準作業流程（SOP）轉化為客製化 AI 助理，實現「AI 人機協作」，最終讓客戶具備自主開發 AI Agent 的能力。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1965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005840" y="1810512"/>
            <a:ext cx="685800" cy="685800"/>
          </a:xfrm>
          <a:prstGeom prst="ellipse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005840" y="18105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快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" y="2633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C5E"/>
                </a:solidFill>
              </a:rPr>
              <a:t>導入快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96265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680"/>
                </a:solidFill>
              </a:rPr>
              <a:t>無需 IT 背景，幾個步驟部署專屬 AI 助理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1664208"/>
            <a:ext cx="1965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154680" y="1810512"/>
            <a:ext cx="685800" cy="685800"/>
          </a:xfrm>
          <a:prstGeom prst="ellipse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154680" y="18105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24328" y="2633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C5E"/>
                </a:solidFill>
              </a:rPr>
              <a:t>開發快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24328" y="296265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680"/>
                </a:solidFill>
              </a:rPr>
              <a:t>Prompt Designer 問答引導，非工程師也能設計 Agent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664208"/>
            <a:ext cx="1965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303520" y="1810512"/>
            <a:ext cx="685800" cy="685800"/>
          </a:xfrm>
          <a:prstGeom prst="ellipse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303520" y="18105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73168" y="2633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C5E"/>
                </a:solidFill>
              </a:rPr>
              <a:t>整合快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73168" y="296265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680"/>
                </a:solidFill>
              </a:rPr>
              <a:t>支援 MCP / Function Call，與既有系統無縫串接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1664208"/>
            <a:ext cx="19659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7452360" y="1810512"/>
            <a:ext cx="685800" cy="685800"/>
          </a:xfrm>
          <a:prstGeom prst="ellipse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452360" y="18105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學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22008" y="2633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C5E"/>
                </a:solidFill>
              </a:rPr>
              <a:t>學習快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22008" y="296265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680"/>
                </a:solidFill>
              </a:rPr>
              <a:t>300+ 場導入課程，陪跑企業從做中學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941064"/>
            <a:ext cx="164592" cy="164592"/>
          </a:xfrm>
          <a:prstGeom prst="ellipse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03504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模型中立（Claude / GPT / Gemini）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261104"/>
            <a:ext cx="164592" cy="164592"/>
          </a:xfrm>
          <a:prstGeom prst="ellipse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03504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三層權限架構（公司 / 工作室 / Agent）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941064"/>
            <a:ext cx="164592" cy="164592"/>
          </a:xfrm>
          <a:prstGeom prst="ellipse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4901184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三種知識庫（向量 RAG / 表格 SQL / 全文查找）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4261104"/>
            <a:ext cx="164592" cy="164592"/>
          </a:xfrm>
          <a:prstGeom prst="ellipse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4901184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容器化部署，支援私有雲 / AWS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3ED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C5E"/>
          </a:solidFill>
          <a:ln w="12700">
            <a:solidFill>
              <a:srgbClr val="0B2C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本次 POC 規劃：三類 19 個 AI 助理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8892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88920" cy="10972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4A8A"/>
                </a:solidFill>
              </a:rPr>
              <a:t>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4A8A"/>
                </a:solidFill>
              </a:rPr>
              <a:t>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4A8A"/>
                </a:solidFill>
              </a:rPr>
              <a:t>知識庫型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680"/>
                </a:solidFill>
              </a:rPr>
              <a:t>需預先建立文件知識庫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450592"/>
            <a:ext cx="2487168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11480" y="2523744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</a:rPr>
              <a:t>上線後 AI 能精準查詢產品規格、BOM 料號、SOP 文件、認證法規等企業知識，回答準確度高、可持續維護。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5478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產品選型推薦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業務FAQ話術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認證法規查詢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BOM料號查詢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SOP查詢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645152"/>
            <a:ext cx="2788920" cy="292608"/>
          </a:xfrm>
          <a:prstGeom prst="rect">
            <a:avLst/>
          </a:prstGeom>
          <a:solidFill>
            <a:srgbClr val="E8F0FB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65760" y="46451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4A8A"/>
                </a:solidFill>
              </a:rPr>
              <a:t>需準備 CSV / TXT 知識庫文件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27832" y="804672"/>
            <a:ext cx="278892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227832" y="804672"/>
            <a:ext cx="2788920" cy="10972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364992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6B3A"/>
                </a:solidFill>
              </a:rPr>
              <a:t>9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4050792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6B3A"/>
                </a:solidFill>
              </a:rPr>
              <a:t>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17556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B3A"/>
                </a:solidFill>
              </a:rPr>
              <a:t>流程優化型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64992" y="2121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680"/>
                </a:solidFill>
              </a:rPr>
              <a:t>文件輸入 → 結構化輸出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64992" y="2450592"/>
            <a:ext cx="2487168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364992" y="2523744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</a:rPr>
              <a:t>上傳會議記錄、檢測報告、報價單等文件，AI 自動整理輸出，取代人工反覆填表，最快可在幾週內上線。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64992" y="35478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客戶需求整理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8D異常報告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檢測報告辨識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報價單比對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會議紀錄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公文撰寫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英文信件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研發週報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工單異常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27832" y="4645152"/>
            <a:ext cx="2788920" cy="292608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319272" y="46451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B3A"/>
                </a:solidFill>
              </a:rPr>
              <a:t>部分需兩階段隔離（PDF辨識）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81344" y="804672"/>
            <a:ext cx="278892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6181344" y="804672"/>
            <a:ext cx="2788920" cy="109728"/>
          </a:xfrm>
          <a:prstGeom prst="rect">
            <a:avLst/>
          </a:prstGeom>
          <a:solidFill>
            <a:srgbClr val="7B3EA8"/>
          </a:solidFill>
          <a:ln w="12700">
            <a:solidFill>
              <a:srgbClr val="7B3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6318504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B3EA8"/>
                </a:solidFill>
              </a:rPr>
              <a:t>5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7004304" y="1417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3EA8"/>
                </a:solidFill>
              </a:rPr>
              <a:t>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18504" y="17556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3EA8"/>
                </a:solidFill>
              </a:rPr>
              <a:t>數據分析型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18504" y="2121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680"/>
                </a:solidFill>
              </a:rPr>
              <a:t>貼入數據即分析，零門檻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18504" y="2450592"/>
            <a:ext cx="2487168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6318504" y="2523744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</a:rPr>
              <a:t>無需預建知識庫，貼入數字或描述，AI 即時分析趨勢、搜尋市場情報、計算產能利用率，最適合 POC 首批展示。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18504" y="35478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品質趨勢分析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產能利用率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專利查詢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供應商開發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海外市場情報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81344" y="4645152"/>
            <a:ext cx="2788920" cy="292608"/>
          </a:xfrm>
          <a:prstGeom prst="rect">
            <a:avLst/>
          </a:prstGeom>
          <a:solidFill>
            <a:srgbClr val="F3ECF8"/>
          </a:solidFill>
          <a:ln w="12700">
            <a:solidFill>
              <a:srgbClr val="7B3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6272784" y="46451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3EA8"/>
                </a:solidFill>
              </a:rPr>
              <a:t>即開即用，三個使用 Google Search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3ED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C5E"/>
          </a:solidFill>
          <a:ln w="12700">
            <a:solidFill>
              <a:srgbClr val="0B2C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 個工作室 · 19 個 AI 助理總覽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0299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64008" cy="475488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74904" y="91440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C5E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4904" y="1188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C5E"/>
                </a:solidFill>
              </a:rPr>
              <a:t>業務工作室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" y="1572768"/>
            <a:ext cx="109728" cy="109728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39496" y="15179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產品選型推薦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" y="1920240"/>
            <a:ext cx="109728" cy="109728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39496" y="1865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業務話術FAQ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" y="2267712"/>
            <a:ext cx="109728" cy="109728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39496" y="22128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客戶需求整理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50592" y="804672"/>
            <a:ext cx="20299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450592" y="914400"/>
            <a:ext cx="64008" cy="475488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596896" y="91440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C5E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96896" y="1188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C5E"/>
                </a:solidFill>
              </a:rPr>
              <a:t>研發技術工作室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96896" y="1572768"/>
            <a:ext cx="109728" cy="109728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2761488" y="15179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認證法規查詢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96896" y="1920240"/>
            <a:ext cx="109728" cy="109728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761488" y="1865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BOM料號查詢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96896" y="2267712"/>
            <a:ext cx="109728" cy="109728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2761488" y="22128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研發週報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96896" y="2615184"/>
            <a:ext cx="109728" cy="109728"/>
          </a:xfrm>
          <a:prstGeom prst="ellipse">
            <a:avLst/>
          </a:prstGeom>
          <a:solidFill>
            <a:srgbClr val="7B3EA8"/>
          </a:solidFill>
          <a:ln w="12700">
            <a:solidFill>
              <a:srgbClr val="7B3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2761488" y="2560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專利查詢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72584" y="804672"/>
            <a:ext cx="20299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672584" y="914400"/>
            <a:ext cx="64008" cy="475488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818888" y="91440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C5E"/>
                </a:solidFill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818888" y="1188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C5E"/>
                </a:solidFill>
              </a:rPr>
              <a:t>品質管理工作室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18888" y="1572768"/>
            <a:ext cx="109728" cy="109728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4983480" y="15179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8D異常報告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18888" y="1920240"/>
            <a:ext cx="109728" cy="109728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4983480" y="1865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檢測報告辨識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18888" y="2267712"/>
            <a:ext cx="109728" cy="109728"/>
          </a:xfrm>
          <a:prstGeom prst="ellipse">
            <a:avLst/>
          </a:prstGeom>
          <a:solidFill>
            <a:srgbClr val="7B3EA8"/>
          </a:solidFill>
          <a:ln w="12700">
            <a:solidFill>
              <a:srgbClr val="7B3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4983480" y="221284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品質趨勢分析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94576" y="804672"/>
            <a:ext cx="20299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6894576" y="914400"/>
            <a:ext cx="64008" cy="475488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7040880" y="91440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C5E"/>
                </a:solidFill>
              </a:rPr>
              <a:t>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040880" y="1188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C5E"/>
                </a:solidFill>
              </a:rPr>
              <a:t>採購工作室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40880" y="1572768"/>
            <a:ext cx="109728" cy="109728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7205472" y="15179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報價單辨識比對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40880" y="1920240"/>
            <a:ext cx="109728" cy="109728"/>
          </a:xfrm>
          <a:prstGeom prst="ellipse">
            <a:avLst/>
          </a:prstGeom>
          <a:solidFill>
            <a:srgbClr val="7B3EA8"/>
          </a:solidFill>
          <a:ln w="12700">
            <a:solidFill>
              <a:srgbClr val="7B3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7205472" y="1865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供應商開發建議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2953512"/>
            <a:ext cx="20299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228600" y="3063240"/>
            <a:ext cx="64008" cy="475488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374904" y="30632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C5E"/>
                </a:solidFill>
              </a:rPr>
              <a:t>5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374904" y="3337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C5E"/>
                </a:solidFill>
              </a:rPr>
              <a:t>生產管理工作室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74904" y="3721608"/>
            <a:ext cx="109728" cy="109728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539496" y="36667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SOP查詢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74904" y="4069080"/>
            <a:ext cx="109728" cy="109728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/>
          <p:nvPr/>
        </p:nvSpPr>
        <p:spPr>
          <a:xfrm>
            <a:off x="539496" y="40142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工單異常分析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74904" y="4416552"/>
            <a:ext cx="109728" cy="109728"/>
          </a:xfrm>
          <a:prstGeom prst="ellipse">
            <a:avLst/>
          </a:prstGeom>
          <a:solidFill>
            <a:srgbClr val="7B3EA8"/>
          </a:solidFill>
          <a:ln w="12700">
            <a:solidFill>
              <a:srgbClr val="7B3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1"/>
          <p:cNvSpPr/>
          <p:nvPr/>
        </p:nvSpPr>
        <p:spPr>
          <a:xfrm>
            <a:off x="539496" y="43616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產能利用率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450592" y="2953512"/>
            <a:ext cx="20299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53"/>
          <p:cNvSpPr/>
          <p:nvPr/>
        </p:nvSpPr>
        <p:spPr>
          <a:xfrm>
            <a:off x="2450592" y="3063240"/>
            <a:ext cx="64008" cy="475488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4"/>
          <p:cNvSpPr/>
          <p:nvPr/>
        </p:nvSpPr>
        <p:spPr>
          <a:xfrm>
            <a:off x="2596896" y="30632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C5E"/>
                </a:solidFill>
              </a:rPr>
              <a:t>6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2596896" y="3337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C5E"/>
                </a:solidFill>
              </a:rPr>
              <a:t>管理部工作室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596896" y="3721608"/>
            <a:ext cx="109728" cy="109728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7"/>
          <p:cNvSpPr/>
          <p:nvPr/>
        </p:nvSpPr>
        <p:spPr>
          <a:xfrm>
            <a:off x="2761488" y="36667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會議紀錄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596896" y="4069080"/>
            <a:ext cx="109728" cy="109728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 59"/>
          <p:cNvSpPr/>
          <p:nvPr/>
        </p:nvSpPr>
        <p:spPr>
          <a:xfrm>
            <a:off x="2761488" y="40142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公文撰寫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672584" y="2953512"/>
            <a:ext cx="202996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1"/>
          <p:cNvSpPr/>
          <p:nvPr/>
        </p:nvSpPr>
        <p:spPr>
          <a:xfrm>
            <a:off x="4672584" y="3063240"/>
            <a:ext cx="64008" cy="475488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Text 62"/>
          <p:cNvSpPr/>
          <p:nvPr/>
        </p:nvSpPr>
        <p:spPr>
          <a:xfrm>
            <a:off x="4818888" y="30632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C5E"/>
                </a:solidFill>
              </a:rPr>
              <a:t>7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4818888" y="33375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C5E"/>
                </a:solidFill>
              </a:rPr>
              <a:t>國際業務工作室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818888" y="3721608"/>
            <a:ext cx="109728" cy="109728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5"/>
          <p:cNvSpPr/>
          <p:nvPr/>
        </p:nvSpPr>
        <p:spPr>
          <a:xfrm>
            <a:off x="4983480" y="36667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英文商務信件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818888" y="4069080"/>
            <a:ext cx="109728" cy="109728"/>
          </a:xfrm>
          <a:prstGeom prst="ellipse">
            <a:avLst/>
          </a:prstGeom>
          <a:solidFill>
            <a:srgbClr val="7B3EA8"/>
          </a:solidFill>
          <a:ln w="12700">
            <a:solidFill>
              <a:srgbClr val="7B3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Text 67"/>
          <p:cNvSpPr/>
          <p:nvPr/>
        </p:nvSpPr>
        <p:spPr>
          <a:xfrm>
            <a:off x="4983480" y="40142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海外市場情報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74320" y="4828032"/>
            <a:ext cx="128016" cy="128016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Text 69"/>
          <p:cNvSpPr/>
          <p:nvPr/>
        </p:nvSpPr>
        <p:spPr>
          <a:xfrm>
            <a:off x="457200" y="47914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80"/>
                </a:solidFill>
              </a:rPr>
              <a:t>知識庫型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011680" y="4828032"/>
            <a:ext cx="128016" cy="12801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Text 71"/>
          <p:cNvSpPr/>
          <p:nvPr/>
        </p:nvSpPr>
        <p:spPr>
          <a:xfrm>
            <a:off x="2194560" y="47914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80"/>
                </a:solidFill>
              </a:rPr>
              <a:t>流程優化型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749040" y="4828032"/>
            <a:ext cx="128016" cy="128016"/>
          </a:xfrm>
          <a:prstGeom prst="rect">
            <a:avLst/>
          </a:prstGeom>
          <a:solidFill>
            <a:srgbClr val="7B3EA8"/>
          </a:solidFill>
          <a:ln w="12700">
            <a:solidFill>
              <a:srgbClr val="7B3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Text 73"/>
          <p:cNvSpPr/>
          <p:nvPr/>
        </p:nvSpPr>
        <p:spPr>
          <a:xfrm>
            <a:off x="3931920" y="47914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80"/>
                </a:solidFill>
              </a:rPr>
              <a:t>數據分析型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3ED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C5E"/>
          </a:solidFill>
          <a:ln w="12700">
            <a:solidFill>
              <a:srgbClr val="0B2C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代表 Agent 示範 — 三種類型各一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09728" cy="126187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02920" y="932688"/>
            <a:ext cx="749808" cy="20116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知識庫型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53312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8A"/>
                </a:solidFill>
              </a:rPr>
              <a:t>1.1 產品選型推薦助理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3312" y="1207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80"/>
                </a:solidFill>
              </a:rPr>
              <a:t>業務工作室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53312" y="14447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輸入  客戶輸入：石化廠乙醇液位量測，ATEX Zone1，4-20mA，5m 量程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3312" y="17190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輸出  AI 推薦 FTG-200 導波雷達，列出型號、防爆認證、輸出訊號、符合說明，並附備注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61888" y="932688"/>
            <a:ext cx="2743200" cy="1005840"/>
          </a:xfrm>
          <a:prstGeom prst="rect">
            <a:avLst/>
          </a:prstGeom>
          <a:solidFill>
            <a:srgbClr val="E8F0FB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080760" y="9692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8A"/>
                </a:solidFill>
              </a:rPr>
              <a:t>效益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0760" y="11887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取代業務手動翻型錄，選型時間從 30 分鐘縮短至 30 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21992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274320" y="2221992"/>
            <a:ext cx="109728" cy="126187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2350008"/>
            <a:ext cx="749808" cy="20116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02920" y="235000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流程優化型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53312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</a:rPr>
              <a:t>3.1 異常報告撰寫助理（8D）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53312" y="26243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80"/>
                </a:solidFill>
              </a:rPr>
              <a:t>品質管理工作室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53312" y="28620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輸入  品工輸入：FTE-100-A 誤動作，批號 LOT-240310，20 台已出貨，暫停剩餘出貨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53312" y="31363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輸出  AI 輸出完整 8D 格式報告，D0–D3 自動填入，D4–D8 附引導提示，可直接發送客戶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61888" y="2350008"/>
            <a:ext cx="2743200" cy="1005840"/>
          </a:xfrm>
          <a:prstGeom prst="rect">
            <a:avLst/>
          </a:prstGeom>
          <a:solidFill>
            <a:srgbClr val="E8F5EE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080760" y="23865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B3A"/>
                </a:solidFill>
              </a:rPr>
              <a:t>效益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2606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8D 報告撰寫時間從 2 小時縮短至 10 分鐘，品工專注根本原因分析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639312"/>
            <a:ext cx="8595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274320" y="3639312"/>
            <a:ext cx="109728" cy="1261872"/>
          </a:xfrm>
          <a:prstGeom prst="rect">
            <a:avLst/>
          </a:prstGeom>
          <a:solidFill>
            <a:srgbClr val="7B3EA8"/>
          </a:solidFill>
          <a:ln w="12700">
            <a:solidFill>
              <a:srgbClr val="7B3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502920" y="3767328"/>
            <a:ext cx="749808" cy="201168"/>
          </a:xfrm>
          <a:prstGeom prst="rect">
            <a:avLst/>
          </a:prstGeom>
          <a:solidFill>
            <a:srgbClr val="7B3EA8"/>
          </a:solidFill>
          <a:ln w="12700">
            <a:solidFill>
              <a:srgbClr val="7B3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02920" y="376732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數據分析型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53312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EA8"/>
                </a:solidFill>
              </a:rPr>
              <a:t>5.3 產能利用率分析助理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53312" y="4041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80"/>
                </a:solidFill>
              </a:rPr>
              <a:t>生產管理工作室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53312" y="42793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輸入  生管貼入：4 條產線 3 月份設計產能與實際產出數字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53312" y="45537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輸出  AI 計算各產線利用率，標出瓶頸站（產線C 103%）與閒置站（產線D 63%），附改善建議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61888" y="3767328"/>
            <a:ext cx="2743200" cy="1005840"/>
          </a:xfrm>
          <a:prstGeom prst="rect">
            <a:avLst/>
          </a:prstGeom>
          <a:solidFill>
            <a:srgbClr val="F3ECF8"/>
          </a:solidFill>
          <a:ln w="12700">
            <a:solidFill>
              <a:srgbClr val="7B3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6080760" y="38039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3EA8"/>
                </a:solidFill>
              </a:rPr>
              <a:t>效益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80760" y="4023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每月產能報告製作時間從 3 小時縮短至 5 分鐘，零知識庫準備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3ED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C5E"/>
          </a:solidFill>
          <a:ln w="12700">
            <a:solidFill>
              <a:srgbClr val="0B2C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技術亮點：兩階段對話隔離機制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475488"/>
          </a:xfrm>
          <a:prstGeom prst="rect">
            <a:avLst/>
          </a:prstGeom>
          <a:solidFill>
            <a:srgbClr val="FFF3EC"/>
          </a:solidFill>
          <a:ln w="12700">
            <a:solidFill>
              <a:srgbClr val="F4B4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000"/>
                </a:solidFill>
              </a:rPr>
              <a:t>本次 POC 有 2 個 Agent 需要此設計：3.2 檢測報告辨識助理、4.1 報價單辨識比對助理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2C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051560" y="1572768"/>
            <a:ext cx="731520" cy="731520"/>
          </a:xfrm>
          <a:prstGeom prst="ellipse">
            <a:avLst/>
          </a:prstGeom>
          <a:solidFill>
            <a:srgbClr val="0B2C5E"/>
          </a:solidFill>
          <a:ln w="12700">
            <a:solidFill>
              <a:srgbClr val="0B2C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C5E"/>
                </a:solidFill>
              </a:rPr>
              <a:t>使用者上傳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PDF 或圖片格式的檢測報告 / 報價單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95728" y="2743200"/>
            <a:ext cx="201168" cy="0"/>
          </a:xfrm>
          <a:prstGeom prst="line">
            <a:avLst/>
          </a:prstGeom>
          <a:noFill/>
          <a:ln w="254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2514600" y="26243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3ED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46304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5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200400" y="1572768"/>
            <a:ext cx="731520" cy="731520"/>
          </a:xfrm>
          <a:prstGeom prst="ellipse">
            <a:avLst/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200400" y="15727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5000"/>
                </a:solidFill>
              </a:rPr>
              <a:t>步驟一：圖像理解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AI 專注讀取文件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嚴禁調用知識庫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輸出結構化文字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44568" y="2743200"/>
            <a:ext cx="201168" cy="0"/>
          </a:xfrm>
          <a:prstGeom prst="line">
            <a:avLst/>
          </a:prstGeom>
          <a:noFill/>
          <a:ln w="254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663440" y="26243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3ED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46304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5349240" y="1572768"/>
            <a:ext cx="731520" cy="731520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349240" y="15727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A8A"/>
                </a:solidFill>
              </a:rPr>
              <a:t>步驟二：知識庫查詢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依步驟一文字結果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查詢規格合格範圍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輸出比對判定表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93408" y="2743200"/>
            <a:ext cx="201168" cy="0"/>
          </a:xfrm>
          <a:prstGeom prst="line">
            <a:avLst/>
          </a:prstGeom>
          <a:noFill/>
          <a:ln w="254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812280" y="262432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3ED"/>
                </a:solidFill>
              </a:rPr>
              <a:t>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146304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7498080" y="1572768"/>
            <a:ext cx="731520" cy="73152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7498080" y="15727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9516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</a:rPr>
              <a:t>使用者取得結果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9516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合格 / 不合格判定表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可直接用於品質報告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224528"/>
            <a:ext cx="8595360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457200" y="4261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C5E"/>
                </a:solidFill>
              </a:rPr>
              <a:t>為什麼需要兩階段？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544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</a:rPr>
              <a:t>EgentHub 的 LLM 同時讀取圖片並調用知識庫時，視覺記憶會干擾工具查詢結果，導致輸出產生幻覺。隔離兩個動作為獨立對話回合，是目前業界最穩定的解法。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3ED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C5E"/>
          </a:solidFill>
          <a:ln w="12700">
            <a:solidFill>
              <a:srgbClr val="0B2C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建議導入時程 — 三階段滾動上線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8046720" cy="0"/>
          </a:xfrm>
          <a:prstGeom prst="line">
            <a:avLst/>
          </a:prstGeom>
          <a:noFill/>
          <a:ln w="254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182880" cy="182880"/>
          </a:xfrm>
          <a:prstGeom prst="ellipse">
            <a:avLst/>
          </a:prstGeom>
          <a:solidFill>
            <a:srgbClr val="DDE3ED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749040" y="2240280"/>
            <a:ext cx="182880" cy="182880"/>
          </a:xfrm>
          <a:prstGeom prst="ellipse">
            <a:avLst/>
          </a:prstGeom>
          <a:solidFill>
            <a:srgbClr val="DDE3ED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7040880" y="2240280"/>
            <a:ext cx="182880" cy="182880"/>
          </a:xfrm>
          <a:prstGeom prst="ellipse">
            <a:avLst/>
          </a:prstGeom>
          <a:solidFill>
            <a:srgbClr val="DDE3ED"/>
          </a:solidFill>
          <a:ln w="12700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8503920" y="2240280"/>
            <a:ext cx="182880" cy="182880"/>
          </a:xfrm>
          <a:prstGeom prst="ellipse">
            <a:avLst/>
          </a:prstGeom>
          <a:solidFill>
            <a:srgbClr val="0B2C5E"/>
          </a:solidFill>
          <a:ln w="12700">
            <a:solidFill>
              <a:srgbClr val="0B2C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80"/>
                </a:solidFill>
              </a:rPr>
              <a:t>第 1–4 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1704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3EA8"/>
                </a:solidFill>
              </a:rPr>
              <a:t>Phase 1 — 快速啟動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182880" cy="182880"/>
          </a:xfrm>
          <a:prstGeom prst="ellipse">
            <a:avLst/>
          </a:prstGeom>
          <a:solidFill>
            <a:srgbClr val="7B3EA8"/>
          </a:solidFill>
          <a:ln w="12700">
            <a:solidFill>
              <a:srgbClr val="7B3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2542032"/>
            <a:ext cx="27889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7B3E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2788920" cy="91440"/>
          </a:xfrm>
          <a:prstGeom prst="rect">
            <a:avLst/>
          </a:prstGeom>
          <a:solidFill>
            <a:srgbClr val="7B3EA8"/>
          </a:solidFill>
          <a:ln w="12700">
            <a:solidFill>
              <a:srgbClr val="7B3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75488" y="2688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3EA8"/>
                </a:solidFill>
              </a:rPr>
              <a:t>數據分析型 (5)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980944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品質趨勢分析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產能利用率分析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專利查詢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供應商開發建議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海外市場情報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4645152"/>
            <a:ext cx="2651760" cy="228600"/>
          </a:xfrm>
          <a:prstGeom prst="rect">
            <a:avLst/>
          </a:prstGeom>
          <a:solidFill>
            <a:srgbClr val="F3ECF8"/>
          </a:solidFill>
          <a:ln w="12700">
            <a:solidFill>
              <a:srgbClr val="F3EC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75488" y="46451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3EA8"/>
                </a:solidFill>
              </a:rPr>
              <a:t>零知識庫門檻，立即上線，讓員工看到 AI 效益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80"/>
                </a:solidFill>
              </a:rPr>
              <a:t>第 5–8 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11704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A"/>
                </a:solidFill>
              </a:rPr>
              <a:t>Phase 2 — 流程植入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75888" y="2240280"/>
            <a:ext cx="182880" cy="18288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310128" y="2542032"/>
            <a:ext cx="27889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3310128" y="2542032"/>
            <a:ext cx="2788920" cy="914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419856" y="2688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A"/>
                </a:solidFill>
              </a:rPr>
              <a:t>流程優化型 (9)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19856" y="2980944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客戶需求整理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8D異常報告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報價單比對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會議紀錄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公文撰寫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英文信件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研發週報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工單異常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檢測報告辨識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4645152"/>
            <a:ext cx="2651760" cy="22860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419856" y="46451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6B3A"/>
                </a:solidFill>
              </a:rPr>
              <a:t>部分 Agent 需要兩階段設定，效果直觀，適合對外展示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54496" y="9144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80"/>
                </a:solidFill>
              </a:rPr>
              <a:t>第 9–16 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54496" y="11704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8A"/>
                </a:solidFill>
              </a:rPr>
              <a:t>Phase 3 — 知識深化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20256" y="2240280"/>
            <a:ext cx="182880" cy="182880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254496" y="2542032"/>
            <a:ext cx="278892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4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6254496" y="2542032"/>
            <a:ext cx="2788920" cy="914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6364224" y="26883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4A8A"/>
                </a:solidFill>
              </a:rPr>
              <a:t>知識庫型 (5)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64224" y="2980944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產品選型推薦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業務話術FAQ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認證法規查詢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BOM料號查詢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2340"/>
                </a:solidFill>
              </a:rPr>
              <a:t>SOP查詢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27648" y="4645152"/>
            <a:ext cx="2651760" cy="228600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6364224" y="46451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4A8A"/>
                </a:solidFill>
              </a:rPr>
              <a:t>知識庫建置週期較長，需各部門配合提供文件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3ED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C5E"/>
          </a:solidFill>
          <a:ln w="12700">
            <a:solidFill>
              <a:srgbClr val="0B2C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每個 AI 助理均已備妥完整 POC 開發包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</a:rPr>
              <a:t>本提案的 19 個 AI 助理，每一個都已產出完整的四份交付文件，可直接複製貼上部署至 EgentHub。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99339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932688" y="1426464"/>
            <a:ext cx="768096" cy="768096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32688" y="142646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4A8A"/>
                </a:solidFill>
              </a:rPr>
              <a:t>1_prompt.txt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761488"/>
            <a:ext cx="1627632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完整系統提示詞（含角色、任務、執行流程、輸出格式）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可直接複製貼上到 EgentHub Agent 設定頁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1298448"/>
            <a:ext cx="199339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108960" y="1426464"/>
            <a:ext cx="768096" cy="768096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108960" y="142646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87752" y="23317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3A"/>
                </a:solidFill>
              </a:rPr>
              <a:t>2_知識庫範例資料/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79192" y="2761488"/>
            <a:ext cx="1627632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587752" y="283464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CSV 表格或 TXT 文本格式的知識庫範例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可直接上傳到 EgentHub 對應的知識庫類型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72584" y="1298448"/>
            <a:ext cx="199339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285232" y="1426464"/>
            <a:ext cx="768096" cy="768096"/>
          </a:xfrm>
          <a:prstGeom prst="ellipse">
            <a:avLst/>
          </a:prstGeom>
          <a:solidFill>
            <a:srgbClr val="7B3EA8"/>
          </a:solidFill>
          <a:ln w="12700">
            <a:solidFill>
              <a:srgbClr val="7B3E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285232" y="142646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64024" y="23317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3EA8"/>
                </a:solidFill>
              </a:rPr>
              <a:t>3_驗測情境.txt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55464" y="2761488"/>
            <a:ext cx="1627632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764024" y="283464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測試資料集（可直接貼到對話框）+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驗測情境（預期輸出、驗證重點）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48856" y="1298448"/>
            <a:ext cx="1993392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461504" y="1426464"/>
            <a:ext cx="768096" cy="768096"/>
          </a:xfrm>
          <a:prstGeom prst="ellipse">
            <a:avLst/>
          </a:prstGeom>
          <a:solidFill>
            <a:srgbClr val="C05000"/>
          </a:solidFill>
          <a:ln w="12700">
            <a:solidFill>
              <a:srgbClr val="C0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7461504" y="142646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40296" y="23317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5000"/>
                </a:solidFill>
              </a:rPr>
              <a:t>4_上線準備指南.txt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31736" y="2761488"/>
            <a:ext cx="1627632" cy="0"/>
          </a:xfrm>
          <a:prstGeom prst="line">
            <a:avLst/>
          </a:prstGeom>
          <a:noFill/>
          <a:ln w="9525">
            <a:solidFill>
              <a:srgbClr val="DD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6940296" y="283464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知識庫設定步驟、模型選擇建議、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340"/>
                </a:solidFill>
              </a:rPr>
              <a:t>上線 Checklist、首 2 週監控指標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solidFill>
            <a:srgbClr val="E8F0FB"/>
          </a:solidFill>
          <a:ln w="12700">
            <a:solidFill>
              <a:srgbClr val="C0D0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548640" y="4389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A4A8A"/>
                </a:solidFill>
              </a:rPr>
              <a:t>19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325880" y="44622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</a:rPr>
              <a:t>個 AI 助理 Prompt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51760" y="4389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A4A8A"/>
                </a:solidFill>
              </a:rPr>
              <a:t>71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3429000" y="44622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</a:rPr>
              <a:t>個交付檔案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4389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A4A8A"/>
                </a:solidFill>
              </a:rPr>
              <a:t>8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532120" y="44622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</a:rPr>
              <a:t>個知識庫範例（CSV/TXT）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0" y="4389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A4A8A"/>
                </a:solidFill>
              </a:rPr>
              <a:t>2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635240" y="44622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340"/>
                </a:solidFill>
              </a:rPr>
              <a:t>個兩階段隔離設計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686800" y="48463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DE3ED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99C0"/>
                </a:solidFill>
              </a:rPr>
              <a:t>下一步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啟動 POC 的三件事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8138160" cy="841248"/>
          </a:xfrm>
          <a:prstGeom prst="rect">
            <a:avLst/>
          </a:prstGeom>
          <a:solidFill>
            <a:srgbClr val="0F3870"/>
          </a:solidFill>
          <a:ln w="12700">
            <a:solidFill>
              <a:srgbClr val="1E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58368" y="185623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5C1A"/>
                </a:solidFill>
              </a:rPr>
              <a:t>01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325880" y="1947672"/>
            <a:ext cx="0" cy="512064"/>
          </a:xfrm>
          <a:prstGeom prst="line">
            <a:avLst/>
          </a:prstGeom>
          <a:noFill/>
          <a:ln w="1905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481328" y="18745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確認優先工作室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81328" y="21854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DD8"/>
                </a:solidFill>
              </a:rPr>
              <a:t>從業務、品管、生產管理三個工作室中選定 1–2 個作為 POC 起點，指定種子團隊 2–3 人。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8138160" cy="841248"/>
          </a:xfrm>
          <a:prstGeom prst="rect">
            <a:avLst/>
          </a:prstGeom>
          <a:solidFill>
            <a:srgbClr val="0F3870"/>
          </a:solidFill>
          <a:ln w="12700">
            <a:solidFill>
              <a:srgbClr val="1E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58368" y="286207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A9FE8"/>
                </a:solidFill>
              </a:rPr>
              <a:t>02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325880" y="2953512"/>
            <a:ext cx="0" cy="512064"/>
          </a:xfrm>
          <a:prstGeom prst="line">
            <a:avLst/>
          </a:prstGeom>
          <a:noFill/>
          <a:ln w="1905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1481328" y="28803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準備知識庫原始資料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81328" y="319125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DD8"/>
                </a:solidFill>
              </a:rPr>
              <a:t>Phase 3 知識庫型 Agent 需要各部門提供：產品規格表、BOM 匯出、SOP 文件、業務 FAQ。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8138160" cy="841248"/>
          </a:xfrm>
          <a:prstGeom prst="rect">
            <a:avLst/>
          </a:prstGeom>
          <a:solidFill>
            <a:srgbClr val="0F3870"/>
          </a:solidFill>
          <a:ln w="12700">
            <a:solidFill>
              <a:srgbClr val="1E4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58368" y="386791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BC78A"/>
                </a:solidFill>
              </a:rPr>
              <a:t>03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1325880" y="3959352"/>
            <a:ext cx="0" cy="512064"/>
          </a:xfrm>
          <a:prstGeom prst="line">
            <a:avLst/>
          </a:prstGeom>
          <a:noFill/>
          <a:ln w="19050">
            <a:solidFill>
              <a:srgbClr val="2A5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481328" y="38862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EgentHub 帳號開通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81328" y="4197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DD8"/>
                </a:solidFill>
              </a:rPr>
              <a:t>精誠資訊協助申請 EgentHub SaaS 試用帳號，智慧方案顧問提供導入陪跑與 Prompt 複製上傳協助。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36592"/>
            <a:ext cx="8046720" cy="0"/>
          </a:xfrm>
          <a:prstGeom prst="line">
            <a:avLst/>
          </a:prstGeom>
          <a:noFill/>
          <a:ln w="12700">
            <a:solidFill>
              <a:srgbClr val="1E3A6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A0"/>
                </a:solidFill>
              </a:rPr>
              <a:t>精誠資訊股份有限公司  ·  技術合作：智慧方案 Intellicon Solutions  ·  EgentHub 企業 AI Agent 管理平台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823</Words>
  <Application>Microsoft Macintosh PowerPoint</Application>
  <PresentationFormat>如螢幕大小 (16:9)</PresentationFormat>
  <Paragraphs>255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桓達科技 EgentHub AI Agent 導入提案</dc:title>
  <dc:subject>PptxGenJS Presentation</dc:subject>
  <dc:creator>精誠資訊 × 智慧方案 Intellicon Solutions</dc:creator>
  <cp:lastModifiedBy>智慧方案-Albert</cp:lastModifiedBy>
  <cp:revision>2</cp:revision>
  <dcterms:created xsi:type="dcterms:W3CDTF">2026-05-14T04:44:47Z</dcterms:created>
  <dcterms:modified xsi:type="dcterms:W3CDTF">2026-05-14T04:46:21Z</dcterms:modified>
</cp:coreProperties>
</file>