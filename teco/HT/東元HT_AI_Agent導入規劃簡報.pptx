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7654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A7A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4A95C"/>
          </a:solidFill>
          <a:ln w="12700">
            <a:solidFill>
              <a:srgbClr val="D4A9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1097280" y="1463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5C8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東元電機 空調科技事業群（HT）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011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Agent 導入規劃書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097280" y="3291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門市銷售預測  ×  巡店與展店行動建議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5C8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單層 EgentHub × 組織級知識累積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97280" y="4754880"/>
            <a:ext cx="4572000" cy="0"/>
          </a:xfrm>
          <a:prstGeom prst="line">
            <a:avLst/>
          </a:prstGeom>
          <a:noFill/>
          <a:ln w="25400">
            <a:solidFill>
              <a:srgbClr val="D4A9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109728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Intellicon Solutions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5440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5C8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EgentHub 企業 AI Agent 平台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5943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5C8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年 5 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議程  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本案涵蓋 HT 通路業務的四大關鍵負擔，從設計理念到實施稽核共九個章節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HT 事業群  AI Agent 導入規劃書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3657600" cy="1371600"/>
          </a:xfrm>
          <a:prstGeom prst="rect">
            <a:avLst/>
          </a:prstGeom>
          <a:solidFill>
            <a:srgbClr val="F4EFFA"/>
          </a:solidFill>
          <a:ln w="6350">
            <a:solidFill>
              <a:srgbClr val="E9DE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17320" y="1691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 通路業務的兩大關鍵負擔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26771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銷售估算 + 合約判讀的人工負擔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4840" y="1554480"/>
            <a:ext cx="3657600" cy="1371600"/>
          </a:xfrm>
          <a:prstGeom prst="rect">
            <a:avLst/>
          </a:prstGeom>
          <a:solidFill>
            <a:srgbClr val="F4EFFA"/>
          </a:solidFill>
          <a:ln w="6350">
            <a:solidFill>
              <a:srgbClr val="E9DE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0" y="16916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212080" y="1691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本案的設計理念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226771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五項核心原則、單層 EgentHub 架構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0" y="1554480"/>
            <a:ext cx="3657600" cy="1371600"/>
          </a:xfrm>
          <a:prstGeom prst="rect">
            <a:avLst/>
          </a:prstGeom>
          <a:solidFill>
            <a:srgbClr val="F4EFFA"/>
          </a:solidFill>
          <a:ln w="6350">
            <a:solidFill>
              <a:srgbClr val="E9DE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8366760" y="16916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006840" y="1691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題目一：銷售流程引導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6760" y="226771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場景、資料、SOP、知識庫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108960"/>
            <a:ext cx="3657600" cy="1371600"/>
          </a:xfrm>
          <a:prstGeom prst="rect">
            <a:avLst/>
          </a:prstGeom>
          <a:solidFill>
            <a:srgbClr val="F4EFFA"/>
          </a:solidFill>
          <a:ln w="6350">
            <a:solidFill>
              <a:srgbClr val="E9DE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777240" y="32461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417320" y="3246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題目二：合約／文件判讀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38221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場景、資料、SOP、知識庫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34840" y="3108960"/>
            <a:ext cx="3657600" cy="1371600"/>
          </a:xfrm>
          <a:prstGeom prst="rect">
            <a:avLst/>
          </a:prstGeom>
          <a:solidFill>
            <a:srgbClr val="F4EFFA"/>
          </a:solidFill>
          <a:ln w="6350">
            <a:solidFill>
              <a:srgbClr val="E9DE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4572000" y="32461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212080" y="3246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POC 實施規劃與時程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0" y="38221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五階段、5 個月甘特圖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0" y="3108960"/>
            <a:ext cx="3657600" cy="1371600"/>
          </a:xfrm>
          <a:prstGeom prst="rect">
            <a:avLst/>
          </a:prstGeom>
          <a:solidFill>
            <a:srgbClr val="F4EFFA"/>
          </a:solidFill>
          <a:ln w="6350">
            <a:solidFill>
              <a:srgbClr val="E9DE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8366760" y="32461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9006840" y="3246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顧問時數估算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366760" y="38221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Intellicon 約 100 小時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4663440"/>
            <a:ext cx="3657600" cy="1371600"/>
          </a:xfrm>
          <a:prstGeom prst="rect">
            <a:avLst/>
          </a:prstGeom>
          <a:solidFill>
            <a:srgbClr val="F4EFFA"/>
          </a:solidFill>
          <a:ln w="6350">
            <a:solidFill>
              <a:srgbClr val="E9DE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777240" y="48006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1417320" y="4800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總管理處稽核機制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77240" y="537667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六大稽核點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434840" y="4663440"/>
            <a:ext cx="3657600" cy="1371600"/>
          </a:xfrm>
          <a:prstGeom prst="rect">
            <a:avLst/>
          </a:prstGeom>
          <a:solidFill>
            <a:srgbClr val="F4EFFA"/>
          </a:solidFill>
          <a:ln w="6350">
            <a:solidFill>
              <a:srgbClr val="E9DE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4572000" y="48006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5212080" y="4800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組織級知識累積藍圖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572000" y="537667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 三大知識庫的長期價值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229600" y="4663440"/>
            <a:ext cx="3657600" cy="1371600"/>
          </a:xfrm>
          <a:prstGeom prst="rect">
            <a:avLst/>
          </a:prstGeom>
          <a:solidFill>
            <a:srgbClr val="F4EFFA"/>
          </a:solidFill>
          <a:ln w="6350">
            <a:solidFill>
              <a:srgbClr val="E9DE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9"/>
          <p:cNvSpPr/>
          <p:nvPr/>
        </p:nvSpPr>
        <p:spPr>
          <a:xfrm>
            <a:off x="8366760" y="48006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9006840" y="4800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下一步行動建議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366760" y="537667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立即至 5 個月行動清單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 業務的四大關鍵負擔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資料量大但難以萃取行動 — 不是缺資料，而是缺結構化的解讀方法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HT 事業群  AI Agent 導入規劃書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5623560" cy="2423160"/>
          </a:xfrm>
          <a:prstGeom prst="rect">
            <a:avLst/>
          </a:prstGeom>
          <a:solidFill>
            <a:srgbClr val="E9DEF6"/>
          </a:solidFill>
          <a:ln w="1524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457200" cy="242316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銷售資料看得到、用不上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2860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每天 POS 匯出大量資料，但區經理拿到後不知從何開始；人工整理一份報表往往要花掉半天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417320"/>
            <a:ext cx="5623560" cy="2423160"/>
          </a:xfrm>
          <a:prstGeom prst="rect">
            <a:avLst/>
          </a:prstGeom>
          <a:solidFill>
            <a:srgbClr val="E9DEF6"/>
          </a:solidFill>
          <a:ln w="1524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263640" y="1417320"/>
            <a:ext cx="457200" cy="242316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309360" y="187452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6903720" y="16916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下滑主因眾多但難以歸因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03720" y="22860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員工流動／商圈變化／競品衝擊／促銷檔期／季節影響 — 5 種候選原因組合，人工歸因高度主觀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5623560" cy="2423160"/>
          </a:xfrm>
          <a:prstGeom prst="rect">
            <a:avLst/>
          </a:prstGeom>
          <a:solidFill>
            <a:srgbClr val="E9DEF6"/>
          </a:solidFill>
          <a:ln w="1524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457200" cy="242316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502920" y="448056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6000" dirty="0"/>
          </a:p>
        </p:txBody>
      </p:sp>
      <p:sp>
        <p:nvSpPr>
          <p:cNvPr id="21" name="Text 19"/>
          <p:cNvSpPr/>
          <p:nvPr/>
        </p:nvSpPr>
        <p:spPr>
          <a:xfrm>
            <a:off x="1097280" y="4297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巡店時間有限但要去的店多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48920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區經理時間有限，30 家店都該去，目前依直覺排序，缺乏資料支撐的客觀標準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4023360"/>
            <a:ext cx="5623560" cy="2423160"/>
          </a:xfrm>
          <a:prstGeom prst="rect">
            <a:avLst/>
          </a:prstGeom>
          <a:solidFill>
            <a:srgbClr val="E9DEF6"/>
          </a:solidFill>
          <a:ln w="1524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6263640" y="4023360"/>
            <a:ext cx="457200" cy="242316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6309360" y="448056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6000" dirty="0"/>
          </a:p>
        </p:txBody>
      </p:sp>
      <p:sp>
        <p:nvSpPr>
          <p:cNvPr id="26" name="Text 24"/>
          <p:cNvSpPr/>
          <p:nvPr/>
        </p:nvSpPr>
        <p:spPr>
          <a:xfrm>
            <a:off x="6903720" y="4297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展店評估缺乏結構化方法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903720" y="48920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每次評估靠直覺與經驗，歷史成功與失敗案例的學習點沒有系統性沉澱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這四個負擔的本質都是「資料量大但難以萃取行動」 — 透過 AI Agent 結構化解讀，可一次解決。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本案的五項核心設計原則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其中原則四「解釋優先於預測」是 HT 案的特有設計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HT 事業群  AI Agent 導入規劃書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703320" cy="2468880"/>
          </a:xfrm>
          <a:prstGeom prst="rect">
            <a:avLst/>
          </a:prstGeom>
          <a:solidFill>
            <a:srgbClr val="F4EFFA"/>
          </a:solidFill>
          <a:ln w="1524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118872" cy="246888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749808" y="15087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49808" y="2011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流程優先於模型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" y="25603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先定義「HT 區經理應該如何看銷售資料、如何決定巡店優先級、如何評估展店」，AI 才介入輔助每個步驟。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1371600"/>
            <a:ext cx="3703320" cy="2468880"/>
          </a:xfrm>
          <a:prstGeom prst="rect">
            <a:avLst/>
          </a:prstGeom>
          <a:solidFill>
            <a:srgbClr val="F4EFFA"/>
          </a:solidFill>
          <a:ln w="1524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4297680" y="1371600"/>
            <a:ext cx="118872" cy="246888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590288" y="15087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90288" y="2011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資料閘門 — POS 品質是硬條件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90288" y="25603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品類分類不一致、日期跳日、銷售件數異常時，Agent 主動退回要求補資料；不對殘缺資料做預測。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1371600"/>
            <a:ext cx="3703320" cy="2468880"/>
          </a:xfrm>
          <a:prstGeom prst="rect">
            <a:avLst/>
          </a:prstGeom>
          <a:solidFill>
            <a:srgbClr val="F4EFFA"/>
          </a:solidFill>
          <a:ln w="1524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8138160" y="1371600"/>
            <a:ext cx="118872" cy="246888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8430768" y="15087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430768" y="2011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判斷邏輯與資料分離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30768" y="25603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預測模型、異常偵測規則、巡店優先級邏輯內建於 Agent；門市、商圈、銷售、巡店、展店資料則存於知識庫。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005072"/>
            <a:ext cx="3703320" cy="2468880"/>
          </a:xfrm>
          <a:prstGeom prst="rect">
            <a:avLst/>
          </a:prstGeom>
          <a:solidFill>
            <a:srgbClr val="E9DEF6"/>
          </a:solidFill>
          <a:ln w="15240">
            <a:solidFill>
              <a:srgbClr val="D4A9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457200" y="4005072"/>
            <a:ext cx="118872" cy="2468880"/>
          </a:xfrm>
          <a:prstGeom prst="rect">
            <a:avLst/>
          </a:prstGeom>
          <a:solidFill>
            <a:srgbClr val="D4A95C"/>
          </a:solidFill>
          <a:ln w="12700">
            <a:solidFill>
              <a:srgbClr val="D4A9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749808" y="414223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3154680" y="4187952"/>
            <a:ext cx="868680" cy="274320"/>
          </a:xfrm>
          <a:prstGeom prst="rect">
            <a:avLst/>
          </a:prstGeom>
          <a:solidFill>
            <a:srgbClr val="D4A95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 特有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9808" y="464515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解釋優先於預測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9808" y="5193792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預測數字本身不重要，重要的是「為什麼會這樣」與「該怎麼做」。沒有解釋的預測不是有用的預測。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97680" y="4005072"/>
            <a:ext cx="3703320" cy="2468880"/>
          </a:xfrm>
          <a:prstGeom prst="rect">
            <a:avLst/>
          </a:prstGeom>
          <a:solidFill>
            <a:srgbClr val="F4EFFA"/>
          </a:solidFill>
          <a:ln w="1524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4297680" y="4005072"/>
            <a:ext cx="118872" cy="246888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4590288" y="414223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4590288" y="464515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人機協作，不是全自動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90288" y="5193792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的責任是加速、結構化、指出不確定性。最終巡店、展店、促銷決策仍由區經理、營業部主管、決策者執行。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138160" y="4005072"/>
            <a:ext cx="3703320" cy="246888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8412480" y="418795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為什麼這 5 項原則同時存在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412480" y="4690872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DE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 5 項原則合在一起，是 HT 案 AI Agent 的「行為憲法」 — 解釋優先於預測讓區經理拿到的不只是數字而是行動方向；其他四項是流程、品質、資料、協作的基本盤。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整體架構：單題目雙 Agent  ｜  從資料到行動的完整鏈路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 Agent 各自獨立可用，加總起來就是「從看資料到做決策」的完整流程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HT 事業群  AI Agent 導入規劃書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/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5D4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題目：門市銷售預測與巡店建議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5623560" cy="4114800"/>
          </a:xfrm>
          <a:prstGeom prst="rect">
            <a:avLst/>
          </a:prstGeom>
          <a:solidFill>
            <a:srgbClr val="E9DEF6"/>
          </a:solidFill>
          <a:ln w="1905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5623560" cy="64008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640080" y="20116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9DE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1.1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銷售資料分析助手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2697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看資料：每日 POS 匯入後，5 分鐘內產出儀表板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4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輸出內容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3383280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各店各品類銷售排名與環比變化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異常店清單（環比 -15% 以上）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下滑主因初判（5 種候選原因組合）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 1-4 週需求預測（含解釋）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4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知識庫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3035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每日銷售明細 ｜ 門市基本資料 ｜ 商圈與競品 ｜ 季節與促銷 ｜ 巡店紀錄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63640" y="1920240"/>
            <a:ext cx="5486400" cy="4114800"/>
          </a:xfrm>
          <a:prstGeom prst="rect">
            <a:avLst/>
          </a:prstGeom>
          <a:solidFill>
            <a:srgbClr val="E9DEF6"/>
          </a:solidFill>
          <a:ln w="19050">
            <a:solidFill>
              <a:srgbClr val="5D4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6263640" y="1920240"/>
            <a:ext cx="5486400" cy="640080"/>
          </a:xfrm>
          <a:prstGeom prst="rect">
            <a:avLst/>
          </a:prstGeom>
          <a:solidFill>
            <a:srgbClr val="5D4894"/>
          </a:solidFill>
          <a:ln w="12700">
            <a:solidFill>
              <a:srgbClr val="5D4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6446520" y="20116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9DE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1.2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46520" y="23317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巡店與展店行動助手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46520" y="26974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4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做決策：基於 1.1 儀表板，給可執行的行動建議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31089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輸出內容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0" y="3383280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本週巡店優先順序（含優先級分數）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每店重點關注事項（援引巡店紀錄）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需立即啟動的跨店對策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展店評估報告（推薦／觀望／不推薦）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46520" y="50292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知識庫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46520" y="53035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門市基本資料 ｜ 商圈與競品 ｜ 巡店紀錄 ｜ 展店評估參考案例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80760" y="3657600"/>
            <a:ext cx="182880" cy="0"/>
          </a:xfrm>
          <a:prstGeom prst="line">
            <a:avLst/>
          </a:prstGeom>
          <a:noFill/>
          <a:ln w="38100">
            <a:solidFill>
              <a:srgbClr val="D4A95C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5852160" y="37947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儀表板報告貼入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早上看 1.1 的儀表板了解門市表現，下午用 1.2 規劃巡店與評估展店候選地點 — 區經理一天的完整工作流。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 三大組織級知識庫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本案最有長期價值的資產 — 持續累積與更新，最終成為 HT 通路業務的「決策大腦」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HT 事業群  AI Agent 導入規劃書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11247120" cy="914400"/>
          </a:xfrm>
          <a:prstGeom prst="rect">
            <a:avLst/>
          </a:prstGeom>
          <a:solidFill>
            <a:srgbClr val="E9DEF6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164592" cy="9144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777240" y="15087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Agent 是工具，組織級知識庫才是長期資產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18745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本案會把 HT 內部分散的 POS 資料、商圈資訊、巡店紀錄、展店案例整理成 3 個結構化知識庫。這些知識庫會隨著每日 POS 資料、每次巡店、每次展店評估持續更新，是本案最有長期價值的產出。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370332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3703320" cy="77724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640080" y="25877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DE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KB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8803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銷售資料分析庫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34290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服務 Agent 1.1 銷售資料分析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37947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 POS 銷售明細（店 × 品類 × 期間）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門市基本資料、商圈與競品資訊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季節指數、促銷檔期、巡店歷史議題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5532120"/>
            <a:ext cx="3200400" cy="0"/>
          </a:xfrm>
          <a:prstGeom prst="line">
            <a:avLst/>
          </a:prstGeom>
          <a:noFill/>
          <a:ln w="635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731520" y="5623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回饋更新機制：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1520" y="5879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POS 系統每日自動拋接；商圈資訊每季更新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297680" y="2514600"/>
            <a:ext cx="370332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5D4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297680" y="2514600"/>
            <a:ext cx="3703320" cy="777240"/>
          </a:xfrm>
          <a:prstGeom prst="rect">
            <a:avLst/>
          </a:prstGeom>
          <a:solidFill>
            <a:srgbClr val="5D4894"/>
          </a:solidFill>
          <a:ln w="12700">
            <a:solidFill>
              <a:srgbClr val="5D4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4480560" y="25877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DE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KB 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80560" y="28803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巡店判斷邏輯庫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26280" y="34290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4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服務 Agent 1.2 巡店建議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0" y="37947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區經理巡店優先級評分邏輯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歷次巡店識別的議題類別與處理方式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跨店對策與成效紀錄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5532120"/>
            <a:ext cx="3200400" cy="0"/>
          </a:xfrm>
          <a:prstGeom prst="line">
            <a:avLst/>
          </a:prstGeom>
          <a:noFill/>
          <a:ln w="6350">
            <a:solidFill>
              <a:srgbClr val="5D4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4572000" y="5623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D4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回饋更新機制：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0" y="5879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每次巡店後，由 PM 回填新議題類型與處理方式；後續成效追蹤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138160" y="2514600"/>
            <a:ext cx="370332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3D2F6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9"/>
          <p:cNvSpPr/>
          <p:nvPr/>
        </p:nvSpPr>
        <p:spPr>
          <a:xfrm>
            <a:off x="8138160" y="2514600"/>
            <a:ext cx="3703320" cy="777240"/>
          </a:xfrm>
          <a:prstGeom prst="rect">
            <a:avLst/>
          </a:prstGeom>
          <a:solidFill>
            <a:srgbClr val="3D2F66"/>
          </a:solidFill>
          <a:ln w="12700">
            <a:solidFill>
              <a:srgbClr val="3D2F6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8321040" y="25877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DE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KB 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321040" y="28803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展店評估案例庫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66760" y="34290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服務 Agent 1.2 展店評估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412480" y="37947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歷史展店候選地評估結果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實際開店表現追蹤（達標率、毛利）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成功與失敗案例的學習點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412480" y="5532120"/>
            <a:ext cx="3200400" cy="0"/>
          </a:xfrm>
          <a:prstGeom prst="line">
            <a:avLst/>
          </a:prstGeom>
          <a:noFill/>
          <a:ln w="6350">
            <a:solidFill>
              <a:srgbClr val="3D2F6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8412480" y="5623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回饋更新機制：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412480" y="5879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每次展店決策後（成功與否）回填學習點；持續累積成展店方法論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三庫合一 = HT 通路決策大腦：分析資料時引用「銷售資料 + 商圈 + 巡店紀錄」；做行動建議時引用「巡店邏輯 + 展店案例」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三方協作分工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本案涉及三個關鍵單位的協作，讓每個單位都能在熟悉的領域發揮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HT 事業群  AI Agent 導入規劃書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703320" cy="4572000"/>
          </a:xfrm>
          <a:prstGeom prst="rect">
            <a:avLst/>
          </a:prstGeom>
          <a:solidFill>
            <a:srgbClr val="F4EFFA"/>
          </a:solidFill>
          <a:ln w="1905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3703320" cy="9144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40080" y="15544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東元數發處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9659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5C8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主執行（Execution）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4688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主要職責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283464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EgentHub 知識庫資料準備（SOP 文件、CSV、PM 系統拋接）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簡單提示詞撰寫與迭代測試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Code Review 後修正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上線部署與後續維運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5349240"/>
            <a:ext cx="3246120" cy="0"/>
          </a:xfrm>
          <a:prstGeom prst="line">
            <a:avLst/>
          </a:prstGeom>
          <a:noFill/>
          <a:ln w="9525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85800" y="54864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投入週期：1-2 位專責人員，全程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1417320"/>
            <a:ext cx="3703320" cy="4572000"/>
          </a:xfrm>
          <a:prstGeom prst="rect">
            <a:avLst/>
          </a:prstGeom>
          <a:solidFill>
            <a:srgbClr val="F4EFFA"/>
          </a:solidFill>
          <a:ln w="19050">
            <a:solidFill>
              <a:srgbClr val="5D4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297680" y="1417320"/>
            <a:ext cx="3703320" cy="914400"/>
          </a:xfrm>
          <a:prstGeom prst="rect">
            <a:avLst/>
          </a:prstGeom>
          <a:solidFill>
            <a:srgbClr val="5D4894"/>
          </a:solidFill>
          <a:ln w="12700">
            <a:solidFill>
              <a:srgbClr val="5D4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480560" y="15544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Intellicon 顧問團隊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80560" y="19659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5C8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主指導（Coaching）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26280" y="24688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4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主要職責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26280" y="283464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策略指導、SOP 與條款庫骨架共創主持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高難度提示詞撰寫（資料閘門、文件完整性閘門、跨角色視角）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Code Review 與品質把關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種子團隊培訓與陪跑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26280" y="5349240"/>
            <a:ext cx="3246120" cy="0"/>
          </a:xfrm>
          <a:prstGeom prst="line">
            <a:avLst/>
          </a:prstGeom>
          <a:noFill/>
          <a:ln w="9525">
            <a:solidFill>
              <a:srgbClr val="5D4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4526280" y="54864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4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投入週期：約 100 小時，5 個月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1417320"/>
            <a:ext cx="3703320" cy="4572000"/>
          </a:xfrm>
          <a:prstGeom prst="rect">
            <a:avLst/>
          </a:prstGeom>
          <a:solidFill>
            <a:srgbClr val="F4EFFA"/>
          </a:solidFill>
          <a:ln w="19050">
            <a:solidFill>
              <a:srgbClr val="3D2F6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8138160" y="1417320"/>
            <a:ext cx="3703320" cy="914400"/>
          </a:xfrm>
          <a:prstGeom prst="rect">
            <a:avLst/>
          </a:prstGeom>
          <a:solidFill>
            <a:srgbClr val="3D2F66"/>
          </a:solidFill>
          <a:ln w="12700">
            <a:solidFill>
              <a:srgbClr val="3D2F6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8321040" y="15544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 通路業務團隊（種子）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321040" y="19659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5C8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主共創（Co-creation）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66760" y="24688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主要職責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66760" y="283464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提供區經理巡店判斷邏輯、展店評估方法論、銷售分析慣例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組成種子團隊（PM 加 1-2 位區經理）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 Agent 並回饋迭代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資深區經理深度訪談（前 3 週為主）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366760" y="5349240"/>
            <a:ext cx="3246120" cy="0"/>
          </a:xfrm>
          <a:prstGeom prst="line">
            <a:avLst/>
          </a:prstGeom>
          <a:noFill/>
          <a:ln w="9525">
            <a:solidFill>
              <a:srgbClr val="3D2F6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8366760" y="54864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投入週期：全專案週期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此外：PE 與總管理處於雙週節點稽核專案進度與成果；PE 資深區經理（受訪者）於前 3 週深度訪談協助提取判斷邏輯與條款風險知識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門市銷售預測與巡店建議</a:t>
            </a: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｜  場景 × 資料 × 輸出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讓資深區經理的判斷邏輯變成可重複執行的決策大腦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HT 事業群  AI Agent 導入規劃書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703320" cy="4937760"/>
          </a:xfrm>
          <a:prstGeom prst="rect">
            <a:avLst/>
          </a:prstGeom>
          <a:solidFill>
            <a:srgbClr val="F4EFFA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3703320" cy="64008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40080" y="15087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 應用場景（業務流程）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19456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 通路業務（區經理、營業部主管、營運高層）以兩種模式使用本系統：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模式一 每日銷售儀表板：早上貼上前一日 POS 匯出，5 分鐘內產出儀表板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模式二 巡店與展店規劃：週一早會前用 1.2 規劃本週巡店與展店候選地評估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97680" y="1417320"/>
            <a:ext cx="3703320" cy="4937760"/>
          </a:xfrm>
          <a:prstGeom prst="rect">
            <a:avLst/>
          </a:prstGeom>
          <a:solidFill>
            <a:srgbClr val="F4EFFA"/>
          </a:solidFill>
          <a:ln w="12700">
            <a:solidFill>
              <a:srgbClr val="5D4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4297680" y="1417320"/>
            <a:ext cx="3703320" cy="640080"/>
          </a:xfrm>
          <a:prstGeom prst="rect">
            <a:avLst/>
          </a:prstGeom>
          <a:solidFill>
            <a:srgbClr val="5D4894"/>
          </a:solidFill>
          <a:ln w="12700">
            <a:solidFill>
              <a:srgbClr val="5D4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4480560" y="15087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 資料輸入與來源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26280" y="2194560"/>
            <a:ext cx="32461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每日銷售明細（POS 系統匯出）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門市基本資料（店型、商圈、員工、店長年資）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商圈與競品資訊（密度、客流、租金、客層）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季節性與促銷檔（季節指數、檔期）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巡店紀錄與議題（歷次巡店識別的議題）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展店評估參考案例（歷史展店成功與失敗）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1417320"/>
            <a:ext cx="3703320" cy="4937760"/>
          </a:xfrm>
          <a:prstGeom prst="rect">
            <a:avLst/>
          </a:prstGeom>
          <a:solidFill>
            <a:srgbClr val="F4EFFA"/>
          </a:solidFill>
          <a:ln w="12700">
            <a:solidFill>
              <a:srgbClr val="3D2F6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8138160" y="1417320"/>
            <a:ext cx="3703320" cy="640080"/>
          </a:xfrm>
          <a:prstGeom prst="rect">
            <a:avLst/>
          </a:prstGeom>
          <a:solidFill>
            <a:srgbClr val="3D2F66"/>
          </a:solidFill>
          <a:ln w="12700">
            <a:solidFill>
              <a:srgbClr val="3D2F6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8321040" y="15087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 預期輸出內容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6760" y="219456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依模式給不同輸出。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366760" y="3749040"/>
            <a:ext cx="32461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儀表板：各店各品類排名、異常店清單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下滑主因初判（5 種候選原因組合）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 1-4 週需求預測（含解釋）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本週巡店優先順序（含分數）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跨店對策建議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展店評估報告（推薦／觀望／不推薦）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門市銷售預測與巡店建議</a:t>
            </a: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｜  任務步驟（Phase 1 至 Phase 7）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2「資料品質閘門」確保 AI 不對殘缺 POS 資料做預測；Phase 4-6 強調解釋優先於預測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HT 事業群  AI Agent 導入規劃書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591056" cy="3657600"/>
          </a:xfrm>
          <a:prstGeom prst="rect">
            <a:avLst/>
          </a:prstGeom>
          <a:solidFill>
            <a:srgbClr val="F4EFFA"/>
          </a:solidFill>
          <a:ln w="12700">
            <a:solidFill>
              <a:srgbClr val="5D4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1591056" cy="594360"/>
          </a:xfrm>
          <a:prstGeom prst="rect">
            <a:avLst/>
          </a:prstGeom>
          <a:solidFill>
            <a:srgbClr val="5D4894"/>
          </a:solidFill>
          <a:ln w="12700">
            <a:solidFill>
              <a:srgbClr val="5D4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75564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需求定義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194560"/>
            <a:ext cx="14081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使用者選擇模式：每日儀表板／巡店規劃／展店評估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048256" y="3291840"/>
            <a:ext cx="54864" cy="0"/>
          </a:xfrm>
          <a:prstGeom prst="line">
            <a:avLst/>
          </a:prstGeom>
          <a:noFill/>
          <a:ln w="12700">
            <a:solidFill>
              <a:srgbClr val="6B6580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2103120" y="1463040"/>
            <a:ext cx="1591056" cy="3657600"/>
          </a:xfrm>
          <a:prstGeom prst="rect">
            <a:avLst/>
          </a:prstGeom>
          <a:solidFill>
            <a:srgbClr val="FFE9D6"/>
          </a:solidFill>
          <a:ln w="12700">
            <a:solidFill>
              <a:srgbClr val="D4A9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2103120" y="1463040"/>
            <a:ext cx="1591056" cy="594360"/>
          </a:xfrm>
          <a:prstGeom prst="rect">
            <a:avLst/>
          </a:prstGeom>
          <a:solidFill>
            <a:srgbClr val="D4A95C"/>
          </a:solidFill>
          <a:ln w="12700">
            <a:solidFill>
              <a:srgbClr val="D4A9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2103120" y="15087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175564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資料品質閘門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94560" y="2194560"/>
            <a:ext cx="14081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 POS 資料品質：日期完整性、品類分類一致性、件數合理性；&lt; 60 分退回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194560" y="47548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硬閘門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94176" y="3291840"/>
            <a:ext cx="54864" cy="0"/>
          </a:xfrm>
          <a:prstGeom prst="line">
            <a:avLst/>
          </a:prstGeom>
          <a:noFill/>
          <a:ln w="12700">
            <a:solidFill>
              <a:srgbClr val="6B6580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3749040" y="1463040"/>
            <a:ext cx="1591056" cy="3657600"/>
          </a:xfrm>
          <a:prstGeom prst="rect">
            <a:avLst/>
          </a:prstGeom>
          <a:solidFill>
            <a:srgbClr val="F4EFFA"/>
          </a:solidFill>
          <a:ln w="12700">
            <a:solidFill>
              <a:srgbClr val="5D4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3749040" y="1463040"/>
            <a:ext cx="1591056" cy="594360"/>
          </a:xfrm>
          <a:prstGeom prst="rect">
            <a:avLst/>
          </a:prstGeom>
          <a:solidFill>
            <a:srgbClr val="5D4894"/>
          </a:solidFill>
          <a:ln w="12700">
            <a:solidFill>
              <a:srgbClr val="5D4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3749040" y="15087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49040" y="175564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資料結構化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0480" y="2194560"/>
            <a:ext cx="14081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整理為「店 × 品類 × 期間」立方體；標準化品類名稱、補齊缺漏日期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340096" y="3291840"/>
            <a:ext cx="54864" cy="0"/>
          </a:xfrm>
          <a:prstGeom prst="line">
            <a:avLst/>
          </a:prstGeom>
          <a:noFill/>
          <a:ln w="12700">
            <a:solidFill>
              <a:srgbClr val="6B6580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5394960" y="1463040"/>
            <a:ext cx="1591056" cy="3657600"/>
          </a:xfrm>
          <a:prstGeom prst="rect">
            <a:avLst/>
          </a:prstGeom>
          <a:solidFill>
            <a:srgbClr val="E9DEF6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5394960" y="1463040"/>
            <a:ext cx="1591056" cy="59436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5394960" y="15087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94960" y="175564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異常偵測 + 主因歸因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0" y="2194560"/>
            <a:ext cx="14081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找出環比下滑 -15% 以上的店；從 5 種候選原因組合中比對最可能主因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0" y="47548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核心戰場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86016" y="3291840"/>
            <a:ext cx="54864" cy="0"/>
          </a:xfrm>
          <a:prstGeom prst="line">
            <a:avLst/>
          </a:prstGeom>
          <a:noFill/>
          <a:ln w="12700">
            <a:solidFill>
              <a:srgbClr val="6B6580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>
            <a:off x="7040880" y="1463040"/>
            <a:ext cx="1591056" cy="3657600"/>
          </a:xfrm>
          <a:prstGeom prst="rect">
            <a:avLst/>
          </a:prstGeom>
          <a:solidFill>
            <a:srgbClr val="E9DEF6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>
            <a:off x="7040880" y="1463040"/>
            <a:ext cx="1591056" cy="59436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7040880" y="15087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40880" y="175564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需求預測 + 解釋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132320" y="2194560"/>
            <a:ext cx="14081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基於季節指數 × 促銷檔 × 商圈活動，預測未來 1-4 週需求；每筆預測附解釋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132320" y="47548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核心戰場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631936" y="3291840"/>
            <a:ext cx="54864" cy="0"/>
          </a:xfrm>
          <a:prstGeom prst="line">
            <a:avLst/>
          </a:prstGeom>
          <a:noFill/>
          <a:ln w="12700">
            <a:solidFill>
              <a:srgbClr val="6B6580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Shape 39"/>
          <p:cNvSpPr/>
          <p:nvPr/>
        </p:nvSpPr>
        <p:spPr>
          <a:xfrm>
            <a:off x="8686800" y="1463040"/>
            <a:ext cx="1591056" cy="3657600"/>
          </a:xfrm>
          <a:prstGeom prst="rect">
            <a:avLst/>
          </a:prstGeom>
          <a:solidFill>
            <a:srgbClr val="E9DEF6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40"/>
          <p:cNvSpPr/>
          <p:nvPr/>
        </p:nvSpPr>
        <p:spPr>
          <a:xfrm>
            <a:off x="8686800" y="1463040"/>
            <a:ext cx="1591056" cy="59436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Text 41"/>
          <p:cNvSpPr/>
          <p:nvPr/>
        </p:nvSpPr>
        <p:spPr>
          <a:xfrm>
            <a:off x="8686800" y="15087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6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686800" y="175564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行動優先級排序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778240" y="2194560"/>
            <a:ext cx="14081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巡店：依議題嚴重度 × 時效 × 難度 × 歷史成效給優先級；展店：依歷史相似案例比對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778240" y="47548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核心戰場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0277856" y="3291840"/>
            <a:ext cx="54864" cy="0"/>
          </a:xfrm>
          <a:prstGeom prst="line">
            <a:avLst/>
          </a:prstGeom>
          <a:noFill/>
          <a:ln w="12700">
            <a:solidFill>
              <a:srgbClr val="6B6580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Shape 46"/>
          <p:cNvSpPr/>
          <p:nvPr/>
        </p:nvSpPr>
        <p:spPr>
          <a:xfrm>
            <a:off x="10332720" y="1463040"/>
            <a:ext cx="1591056" cy="3657600"/>
          </a:xfrm>
          <a:prstGeom prst="rect">
            <a:avLst/>
          </a:prstGeom>
          <a:solidFill>
            <a:srgbClr val="F4EFFA"/>
          </a:solidFill>
          <a:ln w="12700">
            <a:solidFill>
              <a:srgbClr val="5D4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Shape 47"/>
          <p:cNvSpPr/>
          <p:nvPr/>
        </p:nvSpPr>
        <p:spPr>
          <a:xfrm>
            <a:off x="10332720" y="1463040"/>
            <a:ext cx="1591056" cy="594360"/>
          </a:xfrm>
          <a:prstGeom prst="rect">
            <a:avLst/>
          </a:prstGeom>
          <a:solidFill>
            <a:srgbClr val="5D4894"/>
          </a:solidFill>
          <a:ln w="12700">
            <a:solidFill>
              <a:srgbClr val="5D4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Text 48"/>
          <p:cNvSpPr/>
          <p:nvPr/>
        </p:nvSpPr>
        <p:spPr>
          <a:xfrm>
            <a:off x="10332720" y="15087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7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332720" y="175564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輸出成果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424160" y="2194560"/>
            <a:ext cx="14081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依模式產出儀表板報告或行動建議報告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57200" y="5440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4-6 是核心戰場：異常偵測 + 主因解釋（不只給數字）+ 行動優先級排序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457200" y="5760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2「資料品質閘門」設計避免 AI 對殘缺 POS 資料做出誤導性預測。資料品質低於 60 時退回要求補資料。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門市銷售預測與巡店建議</a:t>
            </a: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｜  知識庫需求 與 雙 Agent 架構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HT 事業群  AI Agent 導入規劃書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知識庫需求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6400800" cy="14478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知識庫類型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A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A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難度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A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備註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SQL 表格庫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每日銷售明細（POS 匯出）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8A7AD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 POS 系統定期拋接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SQL 表格庫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門市基本資料、商圈與競品、季節與促銷、巡店紀錄、展店評估案例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8A7AD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本案核心資料源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規則檔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異常偵測閾值、巡店優先級權重、展店評估評分標準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區經理共同制定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17804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 Agent 架構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178040" y="1828800"/>
            <a:ext cx="4572000" cy="1691640"/>
          </a:xfrm>
          <a:prstGeom prst="rect">
            <a:avLst/>
          </a:prstGeom>
          <a:solidFill>
            <a:srgbClr val="F4EFFA"/>
          </a:solidFill>
          <a:ln w="12700">
            <a:solidFill>
              <a:srgbClr val="5D4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8"/>
          <p:cNvSpPr/>
          <p:nvPr/>
        </p:nvSpPr>
        <p:spPr>
          <a:xfrm>
            <a:off x="7178040" y="1828800"/>
            <a:ext cx="4572000" cy="411480"/>
          </a:xfrm>
          <a:prstGeom prst="rect">
            <a:avLst/>
          </a:prstGeom>
          <a:solidFill>
            <a:srgbClr val="5D4894"/>
          </a:solidFill>
          <a:ln w="12700">
            <a:solidFill>
              <a:srgbClr val="5D4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9"/>
          <p:cNvSpPr/>
          <p:nvPr/>
        </p:nvSpPr>
        <p:spPr>
          <a:xfrm>
            <a:off x="7315200" y="18745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1：銷售資料分析助手（核心型）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0" y="23317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4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使用時機：每日 POS 匯入後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0" y="26974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 POS 資料、預測、異常偵測；輸出儀表板報告，含環比、預測、下滑主因解釋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178040" y="3657600"/>
            <a:ext cx="4572000" cy="2606040"/>
          </a:xfrm>
          <a:prstGeom prst="rect">
            <a:avLst/>
          </a:prstGeom>
          <a:solidFill>
            <a:srgbClr val="E9DEF6"/>
          </a:solidFill>
          <a:ln w="1905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3"/>
          <p:cNvSpPr/>
          <p:nvPr/>
        </p:nvSpPr>
        <p:spPr>
          <a:xfrm>
            <a:off x="7178040" y="3657600"/>
            <a:ext cx="4572000" cy="41148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4"/>
          <p:cNvSpPr/>
          <p:nvPr/>
        </p:nvSpPr>
        <p:spPr>
          <a:xfrm>
            <a:off x="7315200" y="37033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2：巡店與展店行動助手（核心型）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315200" y="41605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基於 1.1 儀表板，產出可執行行動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315200" y="4526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產出巡店優先級、跨店對策、展店評估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360920" y="4937760"/>
            <a:ext cx="4251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本週巡店優先順序（含分數）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每店重點關注事項（援引巡店紀錄）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需立即啟動的跨店對策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展店評估報告（推薦／觀望／不推薦）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規模判斷：中型專案。最大工程是 POS 系統定期拋接機制與下滑主因歸因規則庫的建立，由數發處主執行。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POC 實施規劃  ｜  5 個月、五階段甘特圖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兩案併行，分階段推進，讓 HT 數發處有充裕時間消化、迭代與優化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HT 事業群  AI Agent 導入規劃書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 / 工項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51760" y="1463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87783" y="1463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41817" y="1463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95851" y="1463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W9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249886" y="1463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W12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503920" y="1463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W15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757954" y="1463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W18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11989" y="1463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W21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80114" y="1371600"/>
            <a:ext cx="0" cy="3931920"/>
          </a:xfrm>
          <a:prstGeom prst="line">
            <a:avLst/>
          </a:prstGeom>
          <a:noFill/>
          <a:ln w="9525">
            <a:solidFill>
              <a:srgbClr val="D5C8EE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6270171" y="1371600"/>
            <a:ext cx="0" cy="3931920"/>
          </a:xfrm>
          <a:prstGeom prst="line">
            <a:avLst/>
          </a:prstGeom>
          <a:noFill/>
          <a:ln w="9525">
            <a:solidFill>
              <a:srgbClr val="D5C8EE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8778240" y="1371600"/>
            <a:ext cx="0" cy="3931920"/>
          </a:xfrm>
          <a:prstGeom prst="line">
            <a:avLst/>
          </a:prstGeom>
          <a:noFill/>
          <a:ln w="9525">
            <a:solidFill>
              <a:srgbClr val="D5C8EE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10450286" y="1371600"/>
            <a:ext cx="0" cy="3931920"/>
          </a:xfrm>
          <a:prstGeom prst="line">
            <a:avLst/>
          </a:prstGeom>
          <a:noFill/>
          <a:ln w="9525">
            <a:solidFill>
              <a:srgbClr val="D5C8EE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11704320" y="1371600"/>
            <a:ext cx="0" cy="3931920"/>
          </a:xfrm>
          <a:prstGeom prst="line">
            <a:avLst/>
          </a:prstGeom>
          <a:noFill/>
          <a:ln w="9525">
            <a:solidFill>
              <a:srgbClr val="D5C8EE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457200" y="1828800"/>
            <a:ext cx="11247120" cy="0"/>
          </a:xfrm>
          <a:prstGeom prst="line">
            <a:avLst/>
          </a:prstGeom>
          <a:noFill/>
          <a:ln w="6350">
            <a:solidFill>
              <a:srgbClr val="E9DE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457200" y="2112264"/>
            <a:ext cx="11247120" cy="0"/>
          </a:xfrm>
          <a:prstGeom prst="line">
            <a:avLst/>
          </a:prstGeom>
          <a:noFill/>
          <a:ln w="6350">
            <a:solidFill>
              <a:srgbClr val="E9DE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457200" y="2395728"/>
            <a:ext cx="11247120" cy="0"/>
          </a:xfrm>
          <a:prstGeom prst="line">
            <a:avLst/>
          </a:prstGeom>
          <a:noFill/>
          <a:ln w="6350">
            <a:solidFill>
              <a:srgbClr val="E9DE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457200" y="2679192"/>
            <a:ext cx="11247120" cy="0"/>
          </a:xfrm>
          <a:prstGeom prst="line">
            <a:avLst/>
          </a:prstGeom>
          <a:noFill/>
          <a:ln w="6350">
            <a:solidFill>
              <a:srgbClr val="E9DE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457200" y="2962656"/>
            <a:ext cx="11247120" cy="0"/>
          </a:xfrm>
          <a:prstGeom prst="line">
            <a:avLst/>
          </a:prstGeom>
          <a:noFill/>
          <a:ln w="6350">
            <a:solidFill>
              <a:srgbClr val="E9DE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457200" y="3246120"/>
            <a:ext cx="11247120" cy="0"/>
          </a:xfrm>
          <a:prstGeom prst="line">
            <a:avLst/>
          </a:prstGeom>
          <a:noFill/>
          <a:ln w="6350">
            <a:solidFill>
              <a:srgbClr val="E9DE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457200" y="3529584"/>
            <a:ext cx="11247120" cy="0"/>
          </a:xfrm>
          <a:prstGeom prst="line">
            <a:avLst/>
          </a:prstGeom>
          <a:noFill/>
          <a:ln w="6350">
            <a:solidFill>
              <a:srgbClr val="E9DE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457200" y="3813048"/>
            <a:ext cx="11247120" cy="0"/>
          </a:xfrm>
          <a:prstGeom prst="line">
            <a:avLst/>
          </a:prstGeom>
          <a:noFill/>
          <a:ln w="6350">
            <a:solidFill>
              <a:srgbClr val="E9DE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9"/>
          <p:cNvSpPr/>
          <p:nvPr/>
        </p:nvSpPr>
        <p:spPr>
          <a:xfrm>
            <a:off x="457200" y="4096512"/>
            <a:ext cx="11247120" cy="0"/>
          </a:xfrm>
          <a:prstGeom prst="line">
            <a:avLst/>
          </a:prstGeom>
          <a:noFill/>
          <a:ln w="6350">
            <a:solidFill>
              <a:srgbClr val="E9DE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30"/>
          <p:cNvSpPr/>
          <p:nvPr/>
        </p:nvSpPr>
        <p:spPr>
          <a:xfrm>
            <a:off x="457200" y="4379976"/>
            <a:ext cx="11247120" cy="0"/>
          </a:xfrm>
          <a:prstGeom prst="line">
            <a:avLst/>
          </a:prstGeom>
          <a:noFill/>
          <a:ln w="6350">
            <a:solidFill>
              <a:srgbClr val="E9DE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1"/>
          <p:cNvSpPr/>
          <p:nvPr/>
        </p:nvSpPr>
        <p:spPr>
          <a:xfrm>
            <a:off x="457200" y="4663440"/>
            <a:ext cx="11247120" cy="0"/>
          </a:xfrm>
          <a:prstGeom prst="line">
            <a:avLst/>
          </a:prstGeom>
          <a:noFill/>
          <a:ln w="6350">
            <a:solidFill>
              <a:srgbClr val="E9DE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>
            <a:off x="457200" y="4946904"/>
            <a:ext cx="11247120" cy="0"/>
          </a:xfrm>
          <a:prstGeom prst="line">
            <a:avLst/>
          </a:prstGeom>
          <a:noFill/>
          <a:ln w="6350">
            <a:solidFill>
              <a:srgbClr val="E9DE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>
            <a:off x="457200" y="5230368"/>
            <a:ext cx="11247120" cy="0"/>
          </a:xfrm>
          <a:prstGeom prst="line">
            <a:avLst/>
          </a:prstGeom>
          <a:noFill/>
          <a:ln w="6350">
            <a:solidFill>
              <a:srgbClr val="E9DE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548640" y="186537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業務訪談 + SOP / 估算項目庫共創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423160" y="186537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銷售案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944368" y="1874520"/>
            <a:ext cx="1217458" cy="192024"/>
          </a:xfrm>
          <a:prstGeom prst="rect">
            <a:avLst/>
          </a:prstGeom>
          <a:solidFill>
            <a:srgbClr val="8A7AD2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/>
          <p:nvPr/>
        </p:nvSpPr>
        <p:spPr>
          <a:xfrm>
            <a:off x="548640" y="2148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法務訪談 + 合約方法論 / 條款庫共創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423160" y="21488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合約案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944368" y="2157984"/>
            <a:ext cx="1217458" cy="192024"/>
          </a:xfrm>
          <a:prstGeom prst="rect">
            <a:avLst/>
          </a:prstGeom>
          <a:solidFill>
            <a:srgbClr val="5D4894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Text 40"/>
          <p:cNvSpPr/>
          <p:nvPr/>
        </p:nvSpPr>
        <p:spPr>
          <a:xfrm>
            <a:off x="548640" y="243230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高難度 Prompt v1（資料閘門、Phase 2-3）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423160" y="243230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銷售案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198402" y="2441448"/>
            <a:ext cx="1217458" cy="192024"/>
          </a:xfrm>
          <a:prstGeom prst="rect">
            <a:avLst/>
          </a:prstGeom>
          <a:solidFill>
            <a:srgbClr val="8A7AD2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3"/>
          <p:cNvSpPr/>
          <p:nvPr/>
        </p:nvSpPr>
        <p:spPr>
          <a:xfrm>
            <a:off x="548640" y="27157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高難度 Prompt v1（文件完整性閘門）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423160" y="27157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合約案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198402" y="2724912"/>
            <a:ext cx="1217458" cy="192024"/>
          </a:xfrm>
          <a:prstGeom prst="rect">
            <a:avLst/>
          </a:prstGeom>
          <a:solidFill>
            <a:srgbClr val="5D4894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Text 46"/>
          <p:cNvSpPr/>
          <p:nvPr/>
        </p:nvSpPr>
        <p:spPr>
          <a:xfrm>
            <a:off x="548640" y="29992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 Agent 雛形 + 第一輪驗測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423160" y="2999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兩案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52437" y="3008376"/>
            <a:ext cx="799447" cy="192024"/>
          </a:xfrm>
          <a:prstGeom prst="rect">
            <a:avLst/>
          </a:prstGeom>
          <a:solidFill>
            <a:srgbClr val="3D2F66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9"/>
          <p:cNvSpPr/>
          <p:nvPr/>
        </p:nvSpPr>
        <p:spPr>
          <a:xfrm>
            <a:off x="548640" y="32826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4-6 估算邏輯 v2 調優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423160" y="32826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銷售案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288459" y="3291840"/>
            <a:ext cx="1217458" cy="192024"/>
          </a:xfrm>
          <a:prstGeom prst="rect">
            <a:avLst/>
          </a:prstGeom>
          <a:solidFill>
            <a:srgbClr val="8A7AD2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Text 52"/>
          <p:cNvSpPr/>
          <p:nvPr/>
        </p:nvSpPr>
        <p:spPr>
          <a:xfrm>
            <a:off x="548640" y="3566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4-6 合約問答 v2 調優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423160" y="3566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合約案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288459" y="3575304"/>
            <a:ext cx="1217458" cy="192024"/>
          </a:xfrm>
          <a:prstGeom prst="rect">
            <a:avLst/>
          </a:prstGeom>
          <a:solidFill>
            <a:srgbClr val="5D4894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Text 55"/>
          <p:cNvSpPr/>
          <p:nvPr/>
        </p:nvSpPr>
        <p:spPr>
          <a:xfrm>
            <a:off x="548640" y="384962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資深 PM / 法務對齊 + 第二輪驗測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2423160" y="384962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兩案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542494" y="3858768"/>
            <a:ext cx="1217458" cy="192024"/>
          </a:xfrm>
          <a:prstGeom prst="rect">
            <a:avLst/>
          </a:prstGeom>
          <a:solidFill>
            <a:srgbClr val="3D2F66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Text 58"/>
          <p:cNvSpPr/>
          <p:nvPr/>
        </p:nvSpPr>
        <p:spPr>
          <a:xfrm>
            <a:off x="548640" y="41330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場景擴展（更多案件類型 / 複雜合約）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423160" y="4133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兩案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8796528" y="4142232"/>
            <a:ext cx="799447" cy="192024"/>
          </a:xfrm>
          <a:prstGeom prst="rect">
            <a:avLst/>
          </a:prstGeom>
          <a:solidFill>
            <a:srgbClr val="3D2F66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Text 61"/>
          <p:cNvSpPr/>
          <p:nvPr/>
        </p:nvSpPr>
        <p:spPr>
          <a:xfrm>
            <a:off x="548640" y="44165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 Agent 協作優化 + 第三輪驗測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2423160" y="44165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兩案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9632551" y="4425696"/>
            <a:ext cx="799447" cy="192024"/>
          </a:xfrm>
          <a:prstGeom prst="rect">
            <a:avLst/>
          </a:prstGeom>
          <a:solidFill>
            <a:srgbClr val="3D2F66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6" name="Text 64"/>
          <p:cNvSpPr/>
          <p:nvPr/>
        </p:nvSpPr>
        <p:spPr>
          <a:xfrm>
            <a:off x="548640" y="470001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種子團隊培訓 + 教材製作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2423160" y="47000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兩案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0468574" y="4709160"/>
            <a:ext cx="799447" cy="192024"/>
          </a:xfrm>
          <a:prstGeom prst="rect">
            <a:avLst/>
          </a:prstGeom>
          <a:solidFill>
            <a:srgbClr val="3D2F66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Text 67"/>
          <p:cNvSpPr/>
          <p:nvPr/>
        </p:nvSpPr>
        <p:spPr>
          <a:xfrm>
            <a:off x="548640" y="4983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試運行 + 正式上線 + 結案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2423160" y="4983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兩案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11304597" y="4992624"/>
            <a:ext cx="381435" cy="192024"/>
          </a:xfrm>
          <a:prstGeom prst="rect">
            <a:avLst/>
          </a:prstGeom>
          <a:solidFill>
            <a:srgbClr val="3D2F66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2" name="Shape 70"/>
          <p:cNvSpPr/>
          <p:nvPr/>
        </p:nvSpPr>
        <p:spPr>
          <a:xfrm>
            <a:off x="457200" y="5349240"/>
            <a:ext cx="274320" cy="18288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Text 71"/>
          <p:cNvSpPr/>
          <p:nvPr/>
        </p:nvSpPr>
        <p:spPr>
          <a:xfrm>
            <a:off x="822960" y="5330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銷售案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2286000" y="5349240"/>
            <a:ext cx="274320" cy="182880"/>
          </a:xfrm>
          <a:prstGeom prst="rect">
            <a:avLst/>
          </a:prstGeom>
          <a:solidFill>
            <a:srgbClr val="5D4894"/>
          </a:solidFill>
          <a:ln w="12700">
            <a:solidFill>
              <a:srgbClr val="5D4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Text 73"/>
          <p:cNvSpPr/>
          <p:nvPr/>
        </p:nvSpPr>
        <p:spPr>
          <a:xfrm>
            <a:off x="2651760" y="5330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合約案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4114800" y="5349240"/>
            <a:ext cx="274320" cy="182880"/>
          </a:xfrm>
          <a:prstGeom prst="rect">
            <a:avLst/>
          </a:prstGeom>
          <a:solidFill>
            <a:srgbClr val="3D2F66"/>
          </a:solidFill>
          <a:ln w="12700">
            <a:solidFill>
              <a:srgbClr val="3D2F6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7" name="Text 75"/>
          <p:cNvSpPr/>
          <p:nvPr/>
        </p:nvSpPr>
        <p:spPr>
          <a:xfrm>
            <a:off x="4480560" y="5330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兩案共用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457200" y="58064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 啟動 (W1-3) 24h　|　Phase 2 基礎建置 (W4-8) 32h　|　Phase 3 迭代調優 (W9-14) 28h　|　Phase 4 擴展優化 (W15-18) 20h　|　Phase 5 培訓交接 (W19-21) 26h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個月、17 週、合計約 100 小時 — 各 Phase 之間的執行緩衝期，讓 HT 數發處能充分消化每階段成果、累積實作經驗。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顧問時數估算  ｜  5 個月  約 100 小時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Intellicon 指導 + 東元數發處執行 + HT 種子團隊共創 — 分階段交付，循序漸進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HT 事業群  AI Agent 導入規劃書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Intellicon 分階段投入明細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004237"/>
              </p:ext>
            </p:extLst>
          </p:nvPr>
        </p:nvGraphicFramePr>
        <p:xfrm>
          <a:off x="457200" y="1828800"/>
          <a:ext cx="6858000" cy="2301240"/>
        </p:xfrm>
        <a:graphic>
          <a:graphicData uri="http://schemas.openxmlformats.org/drawingml/2006/table">
            <a:tbl>
              <a:tblPr/>
              <a:tblGrid>
                <a:gridCol w="1381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階段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A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週次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A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Intellicon 主要工項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A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時數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D489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Phase 1 啟動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W1-W3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Kickoff、區經理深度訪談、SOP 與條款庫骨架共創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24 h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D489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Phase 2 基礎建置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W4-W8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高難度 Prompt v1（資料閘門、文件完整性閘門）、雙 Agent 雛形、第一輪驗測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32 h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D489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Phase 3 迭代調優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W9-W14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Prompt v2 調優、與資深區經理對齊、第二輪驗測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28 h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D489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Phase 4 擴展優化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W15-W18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場景擴展指導、跨 Agent 協作優化、第三輪驗測、Final Review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 h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D489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Phase 5 培訓交接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W19-W21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種子團隊培訓主講、教材製作、試運行、結案、知識交接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26 h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合計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F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17 週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F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兩案併行（Intellicon 顧問時數）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F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約 100 h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589520" y="1371600"/>
            <a:ext cx="4160520" cy="219456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8"/>
          <p:cNvSpPr/>
          <p:nvPr/>
        </p:nvSpPr>
        <p:spPr>
          <a:xfrm>
            <a:off x="7726680" y="15087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DE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Intellicon 顧問總時數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26680" y="182880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100 小時</a:t>
            </a:r>
            <a:endParaRPr lang="en-US" sz="3600" dirty="0"/>
          </a:p>
        </p:txBody>
      </p:sp>
      <p:sp>
        <p:nvSpPr>
          <p:cNvPr id="9" name="Shape 10"/>
          <p:cNvSpPr/>
          <p:nvPr/>
        </p:nvSpPr>
        <p:spPr>
          <a:xfrm>
            <a:off x="7726680" y="2697480"/>
            <a:ext cx="3886200" cy="0"/>
          </a:xfrm>
          <a:prstGeom prst="line">
            <a:avLst/>
          </a:prstGeom>
          <a:noFill/>
          <a:ln w="19050">
            <a:solidFill>
              <a:srgbClr val="D4A9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1"/>
          <p:cNvSpPr/>
          <p:nvPr/>
        </p:nvSpPr>
        <p:spPr>
          <a:xfrm>
            <a:off x="7726680" y="278892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個月  ｜  17 週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26680" y="31546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9DE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分階段交付，循序漸進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589520" y="3703320"/>
            <a:ext cx="4160520" cy="2606040"/>
          </a:xfrm>
          <a:prstGeom prst="rect">
            <a:avLst/>
          </a:prstGeom>
          <a:solidFill>
            <a:srgbClr val="F4EFFA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4"/>
          <p:cNvSpPr/>
          <p:nvPr/>
        </p:nvSpPr>
        <p:spPr>
          <a:xfrm>
            <a:off x="7726680" y="37947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分工原則的兩個關鍵設計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726680" y="42062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4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Intellicon 聚焦四個高槓桿環節：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72400" y="45262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高難度提示詞撰寫（資料閘門、文件完整性閘門）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Code Review 與品質把關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資深區經理判斷邏輯對齊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種子團隊培訓（Phase 5）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726680" y="5623560"/>
            <a:ext cx="3886200" cy="0"/>
          </a:xfrm>
          <a:prstGeom prst="line">
            <a:avLst/>
          </a:prstGeom>
          <a:noFill/>
          <a:ln w="6350">
            <a:solidFill>
              <a:srgbClr val="D5C8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8"/>
          <p:cNvSpPr/>
          <p:nvPr/>
        </p:nvSpPr>
        <p:spPr>
          <a:xfrm>
            <a:off x="7726680" y="57150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4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個月節奏的關鍵價值：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772400" y="5989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 Phase 之間的緩衝期讓 HT 數發處有充裕時間執行、迭代、累積經驗。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總管理處稽核機制  ｜  六大稽核點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讓專案進度、資源、AI 行為品質都能被定期審視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HT 事業群  AI Agent 導入規劃書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703320" cy="2331720"/>
          </a:xfrm>
          <a:prstGeom prst="rect">
            <a:avLst/>
          </a:prstGeom>
          <a:solidFill>
            <a:srgbClr val="F4EFFA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16002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雙週進度燈號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2860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對照甘特圖工項，紅黃綠燈呈現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108960"/>
            <a:ext cx="3246120" cy="0"/>
          </a:xfrm>
          <a:prstGeom prst="line">
            <a:avLst/>
          </a:prstGeom>
          <a:noFill/>
          <a:ln w="6350">
            <a:solidFill>
              <a:srgbClr val="D5C8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685800" y="32004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負責：PM 提交、總管理處審視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5800" y="3474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頻率：雙週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97680" y="1417320"/>
            <a:ext cx="3703320" cy="2331720"/>
          </a:xfrm>
          <a:prstGeom prst="rect">
            <a:avLst/>
          </a:prstGeom>
          <a:solidFill>
            <a:srgbClr val="F4EFFA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480560" y="1600200"/>
            <a:ext cx="502920" cy="502920"/>
          </a:xfrm>
          <a:prstGeom prst="ellipse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48056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74920" y="16002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階段交付物簽核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26280" y="22860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SOP、知識庫、行為規範、提示詞、驗測報告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26280" y="3108960"/>
            <a:ext cx="3246120" cy="0"/>
          </a:xfrm>
          <a:prstGeom prst="line">
            <a:avLst/>
          </a:prstGeom>
          <a:noFill/>
          <a:ln w="6350">
            <a:solidFill>
              <a:srgbClr val="D5C8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4526280" y="32004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負責：HT 主管 + 總管理處共同簽核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26280" y="3474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頻率：每階段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138160" y="1417320"/>
            <a:ext cx="3703320" cy="2331720"/>
          </a:xfrm>
          <a:prstGeom prst="rect">
            <a:avLst/>
          </a:prstGeom>
          <a:solidFill>
            <a:srgbClr val="F4EFFA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8321040" y="1600200"/>
            <a:ext cx="502920" cy="502920"/>
          </a:xfrm>
          <a:prstGeom prst="ellipse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83210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915400" y="16002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顧問工時月結對帳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366760" y="22860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逐週工時表 + 工項對應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366760" y="3108960"/>
            <a:ext cx="3246120" cy="0"/>
          </a:xfrm>
          <a:prstGeom prst="line">
            <a:avLst/>
          </a:prstGeom>
          <a:noFill/>
          <a:ln w="6350">
            <a:solidFill>
              <a:srgbClr val="D5C8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8366760" y="32004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負責：總管理處對帳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366760" y="3474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頻率：每月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3931920"/>
            <a:ext cx="3703320" cy="2331720"/>
          </a:xfrm>
          <a:prstGeom prst="rect">
            <a:avLst/>
          </a:prstGeom>
          <a:solidFill>
            <a:srgbClr val="F4EFFA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1"/>
          <p:cNvSpPr/>
          <p:nvPr/>
        </p:nvSpPr>
        <p:spPr>
          <a:xfrm>
            <a:off x="640080" y="4114800"/>
            <a:ext cx="502920" cy="502920"/>
          </a:xfrm>
          <a:prstGeom prst="ellipse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64008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234440" y="41148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Autonomous Agent 研究輸入完整度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85800" y="48006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每個商機案需附 Autonomous Agent 報告或同等素材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85800" y="5623560"/>
            <a:ext cx="3246120" cy="0"/>
          </a:xfrm>
          <a:prstGeom prst="line">
            <a:avLst/>
          </a:prstGeom>
          <a:noFill/>
          <a:ln w="6350">
            <a:solidFill>
              <a:srgbClr val="D5C8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6"/>
          <p:cNvSpPr/>
          <p:nvPr/>
        </p:nvSpPr>
        <p:spPr>
          <a:xfrm>
            <a:off x="685800" y="57150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負責：資料閘門通過硬條件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85800" y="59893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頻率：每案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297680" y="3931920"/>
            <a:ext cx="3703320" cy="2331720"/>
          </a:xfrm>
          <a:prstGeom prst="rect">
            <a:avLst/>
          </a:prstGeom>
          <a:solidFill>
            <a:srgbClr val="E9DEF6"/>
          </a:solidFill>
          <a:ln w="25400">
            <a:solidFill>
              <a:srgbClr val="D4A9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Shape 39"/>
          <p:cNvSpPr/>
          <p:nvPr/>
        </p:nvSpPr>
        <p:spPr>
          <a:xfrm>
            <a:off x="4480560" y="4114800"/>
            <a:ext cx="502920" cy="502920"/>
          </a:xfrm>
          <a:prstGeom prst="ellipse">
            <a:avLst/>
          </a:prstGeom>
          <a:solidFill>
            <a:srgbClr val="D4A95C"/>
          </a:solidFill>
          <a:ln w="12700">
            <a:solidFill>
              <a:srgbClr val="D4A9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Text 40"/>
          <p:cNvSpPr/>
          <p:nvPr/>
        </p:nvSpPr>
        <p:spPr>
          <a:xfrm>
            <a:off x="448056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074920" y="41148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資料閘門通過率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526280" y="48006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啟動「資料閘門退回」次數與原因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26280" y="5623560"/>
            <a:ext cx="3246120" cy="0"/>
          </a:xfrm>
          <a:prstGeom prst="line">
            <a:avLst/>
          </a:prstGeom>
          <a:noFill/>
          <a:ln w="6350">
            <a:solidFill>
              <a:srgbClr val="D4A9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Text 44"/>
          <p:cNvSpPr/>
          <p:nvPr/>
        </p:nvSpPr>
        <p:spPr>
          <a:xfrm>
            <a:off x="4526280" y="57150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負責：稽核 AI「不亂推論」的核心指標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526280" y="59893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頻率：每月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138160" y="3931920"/>
            <a:ext cx="3703320" cy="2331720"/>
          </a:xfrm>
          <a:prstGeom prst="rect">
            <a:avLst/>
          </a:prstGeom>
          <a:solidFill>
            <a:srgbClr val="F4EFFA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Shape 47"/>
          <p:cNvSpPr/>
          <p:nvPr/>
        </p:nvSpPr>
        <p:spPr>
          <a:xfrm>
            <a:off x="8321040" y="4114800"/>
            <a:ext cx="502920" cy="502920"/>
          </a:xfrm>
          <a:prstGeom prst="ellipse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Text 48"/>
          <p:cNvSpPr/>
          <p:nvPr/>
        </p:nvSpPr>
        <p:spPr>
          <a:xfrm>
            <a:off x="832104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8915400" y="41148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上線後 KPI 追蹤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8366760" y="48006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新商機數、轉換率、得標率、報價週期、毛利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366760" y="5623560"/>
            <a:ext cx="3246120" cy="0"/>
          </a:xfrm>
          <a:prstGeom prst="line">
            <a:avLst/>
          </a:prstGeom>
          <a:noFill/>
          <a:ln w="6350">
            <a:solidFill>
              <a:srgbClr val="D5C8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Text 52"/>
          <p:cNvSpPr/>
          <p:nvPr/>
        </p:nvSpPr>
        <p:spPr>
          <a:xfrm>
            <a:off x="8366760" y="57150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負責：HT 通路業務主管 + 總管理處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366760" y="59893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頻率：上線後每月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後續擴展藍圖  ｜  PE 三大知識庫的長期擴展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本案結案後，三大知識庫持續累積，逐步擴展案件類型與應用情境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HT 事業群  AI Agent 導入規劃書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703320" cy="3657600"/>
          </a:xfrm>
          <a:prstGeom prst="rect">
            <a:avLst/>
          </a:prstGeom>
          <a:solidFill>
            <a:srgbClr val="F4EFFA"/>
          </a:solidFill>
          <a:ln w="1905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3703320" cy="86868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40080" y="15087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5C8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短期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7830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本案結案後 3-6 個月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24688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啟動：HT 數發處主導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88036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擴展案件類型（離岸風電、車用動力、海外合約）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更多歷史案件回填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條款庫每季 review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97680" y="1417320"/>
            <a:ext cx="3703320" cy="3657600"/>
          </a:xfrm>
          <a:prstGeom prst="rect">
            <a:avLst/>
          </a:prstGeom>
          <a:solidFill>
            <a:srgbClr val="F4EFFA"/>
          </a:solidFill>
          <a:ln w="19050">
            <a:solidFill>
              <a:srgbClr val="5D4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297680" y="1417320"/>
            <a:ext cx="3703320" cy="868680"/>
          </a:xfrm>
          <a:prstGeom prst="rect">
            <a:avLst/>
          </a:prstGeom>
          <a:solidFill>
            <a:srgbClr val="5D4894"/>
          </a:solidFill>
          <a:ln w="12700">
            <a:solidFill>
              <a:srgbClr val="5D4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480560" y="15087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5C8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中期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80560" y="17830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本案結案後 6-12 個月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26280" y="24688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4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啟動：HT 數發處與 IT 部門合作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288036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 PM 系統，案件全週期追蹤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條款庫與 ERP 雙向同步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知識庫管理介面建置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38160" y="1417320"/>
            <a:ext cx="3703320" cy="3657600"/>
          </a:xfrm>
          <a:prstGeom prst="rect">
            <a:avLst/>
          </a:prstGeom>
          <a:solidFill>
            <a:srgbClr val="F4EFFA"/>
          </a:solidFill>
          <a:ln w="19050">
            <a:solidFill>
              <a:srgbClr val="3D2F6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8138160" y="1417320"/>
            <a:ext cx="3703320" cy="868680"/>
          </a:xfrm>
          <a:prstGeom prst="rect">
            <a:avLst/>
          </a:prstGeom>
          <a:solidFill>
            <a:srgbClr val="3D2F66"/>
          </a:solidFill>
          <a:ln w="12700">
            <a:solidFill>
              <a:srgbClr val="3D2F6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8321040" y="15087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5C8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長期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21040" y="17830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本案結案後 12 個月以上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366760" y="24688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啟動：HT 通路業務團隊主導應用方向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0" y="288036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 決策大腦對外延伸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業務簽約前直接調用紅旗檢核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投標前由業務調用估算試算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5349240"/>
            <a:ext cx="11247120" cy="1188720"/>
          </a:xfrm>
          <a:prstGeom prst="rect">
            <a:avLst/>
          </a:prstGeom>
          <a:solidFill>
            <a:srgbClr val="E9DEF6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跨事業群擴展可能性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5852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商機分析師與報價策略 Agent 在 GM 完成驗證後，可快速複製至電力能源（PE）與空調科技（HT）事業群。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0080" y="6172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即使資深區經理退休，這份組織級記憶仍能傳承給新人 — 這是本案最有長期價值的產出。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下一步行動清單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從立即行動到 5 個月結案，明確的時程與責任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HT 事業群  AI Agent 導入規劃書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/ 15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37338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A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行動項目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A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負責單位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A7AD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立即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確認本規劃書方向；安排 HT 通路業務深度訪談排程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6B65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HT 通路業務主管 + Intellicon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A7AD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週內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東元數發處啟動 Autonomous Agent 技術環境規劃；確認 POC 目標客戶清單（3-5 家 KA）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6B65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數發處 + HT 通路業務 + Intellicon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A7AD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週內（Phase 1 啟動）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Kickoff Meeting；種子團隊組成（PM 加 1-2 工程師）；資料源盤點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6B65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GM + Intellicon + 總管理處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A7AD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個月（Phase 1 完成）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HT 通路業務深度訪談與 SOP 共創完成；知識庫骨架建置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6B65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種子團隊 + Intellicon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A7AD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2.5 個月（Phase 2 完成）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Agent MVP 雛形完成；第一輪驗測通過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6B65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種子團隊 + Intellicon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A7AD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 個月（Phase 3 完成）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Agent v2 內部試用上線；KPI 量測初步結果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6B65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種子團隊 + Intellicon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A7AD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5.5 個月（Phase 4 完成）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場景擴展、跨 Agent 協作優化、Final Review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6B65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種子團隊 + Intellicon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A7AD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個月（Phase 5 結案）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種子團隊培訓認證、正式上線、結案；後續擴展規劃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6B65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PE + 總管理處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5209064"/>
            <a:ext cx="11247120" cy="1143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/>
          <p:nvPr/>
        </p:nvSpPr>
        <p:spPr>
          <a:xfrm>
            <a:off x="640080" y="529045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給總管理處的具體請求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5711984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核准本規劃書與 100 小時顧問時數估算 ｜ 指派一位協調窗口參與雙週進度會議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批准 HT 種子團隊（1 PM + 1-2 工程師）5 個月投入承諾 ｜ 批准數發處投入 PE 知識庫整理資源（含法務支援）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D4A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確認文件完整性閘門通過率與資料閘門通過率作為核心稽核指標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1929</Words>
  <Application>Microsoft Macintosh PowerPoint</Application>
  <PresentationFormat>寬螢幕</PresentationFormat>
  <Paragraphs>462</Paragraphs>
  <Slides>15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8" baseType="lpstr">
      <vt:lpstr>Microsoft JhengHei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東元 GM AI Agent 導入規劃書</dc:title>
  <dc:subject>PptxGenJS Presentation</dc:subject>
  <dc:creator>智慧方案股份有限公司</dc:creator>
  <cp:lastModifiedBy>智慧方案-Albert</cp:lastModifiedBy>
  <cp:revision>2</cp:revision>
  <dcterms:created xsi:type="dcterms:W3CDTF">2026-05-10T09:48:46Z</dcterms:created>
  <dcterms:modified xsi:type="dcterms:W3CDTF">2026-05-10T13:02:46Z</dcterms:modified>
</cp:coreProperties>
</file>