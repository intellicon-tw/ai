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7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東元電機 機電系統事業群（GM）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導入規劃書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商機分析師  ×  報價策略決策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Autonomous Agent × EgentHub 雙層協作架構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754880"/>
            <a:ext cx="4572000" cy="0"/>
          </a:xfrm>
          <a:prstGeom prst="line">
            <a:avLst/>
          </a:prstGeom>
          <a:noFill/>
          <a:ln w="25400">
            <a:solidFill>
              <a:srgbClr val="D4A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Intellicon Solutions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EgentHub 企業 AI Agent 平台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5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議程 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本次規劃涵蓋兩大題目，從設計哲學到實施稽核共九個章節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專案背景與設計哲學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GM 現況痛點、四項核心設計原則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55448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整體架構：雙層協作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Autonomous Agent × EgentHub 分工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0684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題目一：商機分析師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場景、資料、SOP、知識庫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10896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題目二：報價策略決策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場景、資料、SOP、知識庫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10896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2120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POC 實施規劃與時程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五階段、6 個月甘特圖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10896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00684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顧問時數估算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6676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約 150 小時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66344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1732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總管理處稽核機制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5376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六大稽核點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466344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21208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後續擴展藍圖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0" y="5376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第二、三層 Agent 與跨事業群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66344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00684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下一步行動建議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66760" y="5376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立即至 6 個月行動清單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核心問題定義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不是「AI 寫不寫得出報告」，是「判斷流程能不能被組織保存」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E9DEF6"/>
          </a:solidFill>
          <a:ln w="6350">
            <a:solidFill>
              <a:srgbClr val="D5C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現況：藏在資深業務腦中的判斷邏輯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274320" cy="2743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商機資訊高度分散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新聞、年報、徵才、原料行情、政府方案各走各的，沒有統一視角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898648"/>
            <a:ext cx="274320" cy="2743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852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早期訊號最有價值卻最容易漏接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218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客戶剛擴廠的訊號最有價值，但模糊難以量化判斷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39896"/>
            <a:ext cx="274320" cy="2743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報價判斷仰賴資深業務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0599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「這價格殺得下去嗎」「這客戶最近有競爭嗎」邏輯藏在腦中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581144"/>
            <a:ext cx="274320" cy="2743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81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5354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新人難以複製、難以交接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90118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資深業務退休或請假，組織能力直接斷層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422392"/>
            <a:ext cx="274320" cy="2743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422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5376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容易過度推論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5742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資料不全時，AI 能「寫」出看似專業實則根據不足的結論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508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專案目標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652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不是做一個「會寫報告的 AI」，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652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而是打造「會遵循 SOP、知道何時該停下來、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652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並主動要求補資料」的 AI Agent 團隊。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46520" y="3520440"/>
            <a:ext cx="4114800" cy="0"/>
          </a:xfrm>
          <a:prstGeom prst="line">
            <a:avLst/>
          </a:prstGeom>
          <a:noFill/>
          <a:ln w="19050">
            <a:solidFill>
              <a:srgbClr val="D4A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讓判斷可被放大、可被保存、可被新人繼承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46520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交付目標：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46520" y="4663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從「資深業務的個人英雄主義」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走向「組織級可複製、可稽核的決策能力」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4652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這次同時做兩個 Agent：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商機分析師（事前主動）  +  報價策略決策（事中即時）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整體設計原則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Agent 都遵循這四項核心哲學，是稽核 AI 行為的依據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0" cy="246888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137160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流程優先於模型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先定義「GM 業務應該如何挖商機、如何決策報價」，AI 才介入輔助每個步驟。提示詞與工具都是流程的延伸，不是流程的核心。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486400" cy="246888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371600"/>
            <a:ext cx="137160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508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3796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資料確認是硬閘門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在關鍵資料未確認前，AI 不分析、不推估、不下結論。寧可主動回頭要求業務補資料，也不容許「看似完整但根據不足」的輸出污染決策。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5486400" cy="246888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23360"/>
            <a:ext cx="137160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77240" y="4709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判斷邏輯與事實資料分離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判斷規則與估算邏輯內建於 Agent 行為規範；客戶、產業、歷史報價、原料行情則存於企業知識庫。讓兩者各自演化。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023360"/>
            <a:ext cx="5486400" cy="246888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023360"/>
            <a:ext cx="137160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37960" y="4709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人機協作，不是全自動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37960" y="5303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的責任是加速、結構化、指出不確定性。最終商機判斷與報價決策仍由業務或業務主管執行。AI 是夥伴，不是取代。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整體架構：Autonomous Agent × EgentHub 雙層協作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訊號層給「事實」，決策層給「決策」，鬆耦合設計確保未來可替換訊號層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18</a:t>
            </a:r>
            <a:endParaRPr lang="en-US" sz="900" dirty="0"/>
          </a:p>
        </p:txBody>
      </p:sp>
      <p:pic>
        <p:nvPicPr>
          <p:cNvPr id="8" name="Image 0" descr="/sessions/jolly-amazing-franklin/mnt/outputs/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重要附註：Autonomous Agent 技術環境說明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讓總管理處清楚理解工具屬性、責任歸屬、未來替換時點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164592" cy="12801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Autonomous Agent 並非 EgentHub 平台既有功能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可在指令設計、任務拆解、訊號蒐集策略提供顧問建議；初期實際的技術環境建置（執行框架、爬蟲管線、資料儲存、研究報告產出）由東元數發處負責並指派專責人員維運。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6576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3657600" cy="54864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現在（POC 期）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數發處主導建置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數發處建置技術環境並維運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提供指令設計與策略建議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已驗證可行（CTCI 案）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數發處同時累積 Agent 實作經驗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2926080"/>
            <a:ext cx="36576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5D489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2926080"/>
            <a:ext cx="3657600" cy="54864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Q3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348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自有方案推出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0560" y="411480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原生 Autonomous Agent 上線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整合進 EgentHub 成為平台原生能力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享有平台層級更新與維運支援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跨事業群統一管理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2926080"/>
            <a:ext cx="36576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D2F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926080"/>
            <a:ext cx="3657600" cy="54864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 末評估會議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替換決策點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75320" y="411480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盤點數發處初期建置成果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 Intellicon 原生方案功能與成本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評估跨事業群擴展性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鬆耦合設計：替換不影響 EgentHub Agent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鬆耦合設計：訊號層與決策層透過 xlsx 報告中介，未來替換訊號層工具時，決策層 Agent 不需重新開發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三方協作分工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本案涉及三個關鍵單位的協作，AI 工具成為跨單位的共同語言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4572000"/>
          </a:xfrm>
          <a:prstGeom prst="rect">
            <a:avLst/>
          </a:prstGeom>
          <a:solidFill>
            <a:srgbClr val="F4EFFA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9144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東元數發處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主執行（Execution）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主要職責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Autonomous Agent 技術環境建置與維運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知識庫資料準備（CSV、ERP 拋接）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簡單提示詞撰寫與迭代測試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上線部署與後續維運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5349240"/>
            <a:ext cx="3246120" cy="0"/>
          </a:xfrm>
          <a:prstGeom prst="line">
            <a:avLst/>
          </a:prstGeom>
          <a:noFill/>
          <a:ln w="9525">
            <a:solidFill>
              <a:srgbClr val="8A7A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投入週期：1-2 位專責人員，全程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3703320" cy="4572000"/>
          </a:xfrm>
          <a:prstGeom prst="rect">
            <a:avLst/>
          </a:prstGeom>
          <a:solidFill>
            <a:srgbClr val="F4EFFA"/>
          </a:solidFill>
          <a:ln w="19050">
            <a:solidFill>
              <a:srgbClr val="5D48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417320"/>
            <a:ext cx="3703320" cy="91440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顧問團隊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主指導（Coaching）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主要職責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策略指導、SOP 共創主持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高難度提示詞撰寫（資料閘門、Phase 4-6）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Review 與品質把關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種子團隊培訓與陪跑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5349240"/>
            <a:ext cx="3246120" cy="0"/>
          </a:xfrm>
          <a:prstGeom prst="line">
            <a:avLst/>
          </a:prstGeom>
          <a:noFill/>
          <a:ln w="9525">
            <a:solidFill>
              <a:srgbClr val="5D4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投入週期：約 150 小時，12 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417320"/>
            <a:ext cx="3703320" cy="4572000"/>
          </a:xfrm>
          <a:prstGeom prst="rect">
            <a:avLst/>
          </a:prstGeom>
          <a:solidFill>
            <a:srgbClr val="F4EFFA"/>
          </a:solidFill>
          <a:ln w="19050">
            <a:solidFill>
              <a:srgbClr val="3D2F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417320"/>
            <a:ext cx="3703320" cy="91440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GM 業務團隊（種子）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2104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主共創（Co-creation）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主要職責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提供商機判斷與報價決策邏輯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組成種子團隊（PM 加 1-2 工程師）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Agent 並回饋迭代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資深業務深度訪談（前 4 週為主）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66760" y="5349240"/>
            <a:ext cx="3246120" cy="0"/>
          </a:xfrm>
          <a:prstGeom prst="line">
            <a:avLst/>
          </a:prstGeom>
          <a:noFill/>
          <a:ln w="9525">
            <a:solidFill>
              <a:srgbClr val="3D2F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投入週期：全專案週期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此外：GM 與總管理處於雙週節點稽核專案進度與成果；GM 資深業務（受訪者）於前 4 週深度訪談協助提取判斷邏輯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題目一  商機分析師 AI Agent  ｜  場景 × 資料 × 輸出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從「等客戶詢價」轉為「先一步看到機會」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6400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應用場景（業務流程）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GM 業務團隊每週收到「商機雷達報告」，列出 Top N 潛在新案。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業務以此作為主動敲門依據；資深業務則用此 Agent 二次驗證自身判斷，並把判斷邏輯沉澱成組織資產。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從「等客戶詢價」轉為「先一步看到機會」。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17320"/>
            <a:ext cx="3703320" cy="6400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資料輸入與來源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246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外部即時資料：景氣指標、產業新聞、研究報告、政府方案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客戶動態：KA 年報、新聞稿、徵才訊息、擴廠計畫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原物料行情：銅、矽鋼片、稀土等馬達主原料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Autonomous Agent 產出 xlsx：標案彙總、競爭格局、聯盟地圖、護城河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東元內部：ERP/CRM 詢報價紀錄、成交紀錄、客戶採購週期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417320"/>
            <a:ext cx="3703320" cy="6400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預期輸出內容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19456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每週一份「商機雷達」，可推送至業務手機 LINE 或 Email。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66760" y="3749040"/>
            <a:ext cx="3246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客戶名稱、觸發訊號、建議產品線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預估金額區間（標註可信度）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建議行動、業務話術建議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資料來源與引用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資料不足時明確標示「待補資訊」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題目一  商機分析師  ｜  任務步驟（Phase 1 至 Phase 7）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2「資料閘門」是設計上的硬性條件 — 未確認不分析、不推估、不下結論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分析需求定義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業務輸入目標客戶、產業、期間與分析重點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482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03120" y="1463040"/>
            <a:ext cx="1591056" cy="3657600"/>
          </a:xfrm>
          <a:prstGeom prst="rect">
            <a:avLst/>
          </a:prstGeom>
          <a:solidFill>
            <a:srgbClr val="FFE9D6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463040"/>
            <a:ext cx="1591056" cy="59436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資料盤點與缺口確認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盤點知識庫已有資料、列出缺口；未經業務確認，不進入後續分析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硬閘門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9417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4904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訊號結構化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外部訊號轉為標準欄位（事件類型、時程、規模線索、可信度）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009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9496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商機化分析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轉為「東元 GM 可切入的商機」：設備型號、配套服務、潛在競品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8601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04088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商機金額估算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規則導向，僅在有合理依據時估算，一律以區間呈現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3232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3193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68680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排序與行動建議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782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近期性 × 金額區間 × 與東元能力匹配度 × 客戶歷史關係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77824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2778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33272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3272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327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327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輸出成果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4241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週報「商機雷達」+ 個別商機卡，可即時推送 LINE / Email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4-6 是 EgentHub Agent 的核心戰場（Phase 1-3 由 Autonomous Agent 大幅簡化）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2「資料閘門」是稽核 AI 是否亂推論的關鍵設計。AI 在資料未確認前，只給「資訊充分度評分」，不給結論。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題目一  商機分析師  ｜  知識庫需求 與 雙 Agent 架構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知識庫需求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7315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知識庫類型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難度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向量知識庫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產業景氣指標、客戶年報摘要、過往商機案例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RAG 技術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SQL 表格庫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歷史報價成交、KA 客戶往來、產品-產業對照表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本案最大工程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工具呼叫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原物料行情 API、客戶新聞自動推播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API 串接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Autonomous Agent xlsx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客戶研究報告灌入企業知識庫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已有現成樣本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780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Agent 架構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78040" y="1828800"/>
            <a:ext cx="4572000" cy="169164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78040" y="1828800"/>
            <a:ext cx="4572000" cy="4114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1：研究助理（輔助型）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使用時機：補資料、整理資料時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2697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解析使用者補充的公告、新聞、PDF、Autonomous Agent xlsx，摘要重點並標註可支援哪些商機分析欄位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3657600"/>
            <a:ext cx="4572000" cy="2606040"/>
          </a:xfrm>
          <a:prstGeom prst="rect">
            <a:avLst/>
          </a:prstGeom>
          <a:solidFill>
            <a:srgbClr val="E9DEF6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78040" y="3657600"/>
            <a:ext cx="4572000" cy="4114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2：商機分析師（核心 Agent）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業務的主要入口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負責完整 SOP（Phase 1 至 Phase 7）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0920" y="493776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比對東元能力庫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商機可行性評分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排序與行動建議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輸出商機雷達週報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規模判斷：大型專案。Autonomous Agent 已扛下訊號蒐集，本 Agent 聚焦於商機化、評分、行動建議三個核心戰場。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題目二  報價策略決策 AI Agent  ｜  場景 × 資料 × 輸出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把資深業務的報價判斷邏輯結構化、可複用、可稽核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6400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應用場景（業務流程）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業務人員收到新詢價後，AI 在數分鐘內回吐：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建議報價區間 + 建議交期 + 預估勝率 + 風險提示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業務確認或調整後送出。後續成交與否回填，作為下次學習素材。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資深業務的判斷邏輯被 AI 結構化、複用，新進業務也能產出水準一致的初稿。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17320"/>
            <a:ext cx="3703320" cy="6400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資料輸入與來源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246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詢價單：規格、數量、客戶、地區、交期需求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東元歷史：成交價、落標價、失單價、勝負標籤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競爭情報：公開招標結果、業務人員回報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成本與產能：BOM 標準成本、即時原料成本、產能排程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客戶分級：KA、一般、新客戶分類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417320"/>
            <a:ext cx="3703320" cy="6400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預期輸出內容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19456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報價建議單（PDF / Excel），業務確認或調整後送出。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66760" y="4206240"/>
            <a:ext cx="3246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三檔價格：上限、最適、下限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建議交期（含產能風險）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預估得標率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風險提示：低毛利、產能瓶頸、議價空間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可援引的歷史相似案例編號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題目二  報價策略決策  ｜  任務步驟（Phase 1 至 Phase 7）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資料閘門：缺口未補齊前，AI 只給「資訊充分度評分」，不給最終價格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詢價需求定義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業務輸入詢價單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482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03120" y="1463040"/>
            <a:ext cx="1591056" cy="3657600"/>
          </a:xfrm>
          <a:prstGeom prst="rect">
            <a:avLst/>
          </a:prstGeom>
          <a:solidFill>
            <a:srgbClr val="FFE9D6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463040"/>
            <a:ext cx="1591056" cy="59436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資料盤點與缺口確認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缺口未補齊前，AI 只給「資訊充分度評分」，不給最終價格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硬閘門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9417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4904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歷史相似案件結構化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撈出近 N 年同型號 / 同客戶 / 同地區的價差區間與情境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009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9496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成本與毛利試算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× 即時原料 + 製造費 + 銷管攤銷 → 標準成本 + 毛利區間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8601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04088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報價策略建議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三檔報價、建議交期、預估得標率，註明假設與資料來源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3232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3193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68680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風險提示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782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低毛利、產能瓶頸、議價空間、競爭對手可能行動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77824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2778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33272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3272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327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327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輸出成果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4241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報價建議單 PDF/Excel，業務確認後送出，成交結果回填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4-6 是核心戰場：把 BOM、原料、產能、勝負紀錄、競價情報組合成可執行的報價策略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資料閘門設計避免 AI 在規格不全時推估出風險很高的報價建議。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題目二  報價策略決策  ｜  知識庫需求 與 雙 Agent 架構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知識庫需求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7315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知識庫類型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難度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SQL 表格庫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歷史成交（含勝負標籤）、BOM 標準成本、產能排程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核心資料源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工具呼叫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原料即時行情 API、ERP 整合查詢工具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外部與內部 API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向量知識庫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競爭對手情報筆記、特殊客戶議價歷史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業務人員填寫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毛利底線政策、客戶分級報價策略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業務主管制定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780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Agent 架構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78040" y="1828800"/>
            <a:ext cx="4572000" cy="169164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78040" y="1828800"/>
            <a:ext cx="4572000" cy="4114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1：詢價解析助理（輔助型）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使用時機：詢價單進來時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2697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解析詢價單、規格抽取、產品標準化分類、比對歷史相似案件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3657600"/>
            <a:ext cx="4572000" cy="2606040"/>
          </a:xfrm>
          <a:prstGeom prst="rect">
            <a:avLst/>
          </a:prstGeom>
          <a:solidFill>
            <a:srgbClr val="E9DEF6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78040" y="3657600"/>
            <a:ext cx="4572000" cy="4114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2：報價策略分析師（核心）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業務的主要入口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負責完整 SOP（Phase 1 至 Phase 7）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0920" y="493776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成本與毛利試算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三檔報價建議與勝率預估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風險提示與議價空間分析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成交結果回填學習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規模判斷：大型專案，比題目一更吃 ERP 與 BOM 整合精度。建議第一階段聚焦最常詢價的前 20% 馬達品項。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POC 實施規劃  ｜  6 個月、五階段甘特圖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兩案併行，分階段推進，讓東元 GM 數發處有充裕時間消化、迭代與優化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/ 工項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64634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77508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90382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03255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16129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29003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41877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W22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2375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76578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302326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328074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0353822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704320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1828800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112264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395728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679192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962656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246120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9584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813048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096512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379976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663440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946904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230368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1865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深度訪談 + SOP 共創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23160" y="18653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商機案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944368" y="1874520"/>
            <a:ext cx="1313922" cy="192024"/>
          </a:xfrm>
          <a:prstGeom prst="rect">
            <a:avLst/>
          </a:prstGeom>
          <a:solidFill>
            <a:srgbClr val="8A7AD2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深度訪談 + SOP 共創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44368" y="2157984"/>
            <a:ext cx="1313922" cy="192024"/>
          </a:xfrm>
          <a:prstGeom prst="rect">
            <a:avLst/>
          </a:prstGeom>
          <a:solidFill>
            <a:srgbClr val="5D489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2432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 Prompt v1 + 雙 Agent 雛形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423160" y="2432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商機案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294866" y="2441448"/>
            <a:ext cx="1313922" cy="192024"/>
          </a:xfrm>
          <a:prstGeom prst="rect">
            <a:avLst/>
          </a:prstGeom>
          <a:solidFill>
            <a:srgbClr val="8A7AD2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715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 Prompt v1 + 雙 Agent 雛形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423160" y="2715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報價案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294866" y="2724912"/>
            <a:ext cx="1313922" cy="192024"/>
          </a:xfrm>
          <a:prstGeom prst="rect">
            <a:avLst/>
          </a:prstGeom>
          <a:solidFill>
            <a:srgbClr val="5D489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第一輪驗測 + Code Review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423160" y="2999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645365" y="3008376"/>
            <a:ext cx="638673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2826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v2 調優（Phase 4-6）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423160" y="32826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商機案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320614" y="3291840"/>
            <a:ext cx="976298" cy="192024"/>
          </a:xfrm>
          <a:prstGeom prst="rect">
            <a:avLst/>
          </a:prstGeom>
          <a:solidFill>
            <a:srgbClr val="8A7AD2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v2 調優（Phase 4-6）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423160" y="3566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報價案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20614" y="3575304"/>
            <a:ext cx="976298" cy="192024"/>
          </a:xfrm>
          <a:prstGeom prst="rect">
            <a:avLst/>
          </a:prstGeom>
          <a:solidFill>
            <a:srgbClr val="5D489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8496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與資深業務對齊 + 第二輪驗測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423160" y="38496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33488" y="3858768"/>
            <a:ext cx="976298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133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場景擴展（更多 KA / 客製化品項）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423160" y="4133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346362" y="4142232"/>
            <a:ext cx="976298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416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 Agent 協作優化 + 第三輪驗測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423160" y="44165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359236" y="4425696"/>
            <a:ext cx="976298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47000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種子團隊培訓 + 教材製作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423160" y="4700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0372110" y="4709160"/>
            <a:ext cx="638673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試運行 + 正式上線 + 結案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423160" y="4983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1047359" y="4992624"/>
            <a:ext cx="638673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5349240"/>
            <a:ext cx="274320" cy="182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296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商機案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286000" y="5349240"/>
            <a:ext cx="274320" cy="1828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5176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報價案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114800" y="5349240"/>
            <a:ext cx="274320" cy="1828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8056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兩案共用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啟動 (W1-4) 30h　|　Phase 2 基礎建置 (W5-10) 36h　|　Phase 3 迭代調優 (W11-16) 30h　|　Phase 4 擴展優化 (W17-22) 24h　|　Phase 5 培訓交接 (W23-26) 30h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個月、26 週、合計約 150 小時 — 各 Phase 之間的執行緩衝期，讓 GM 數發處能充分消化每階段成果、累積實作經驗。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顧問時數估算  ｜  6 個月  約 150 小時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指導 + 東元數發處執行 + GM 種子團隊共創 — 分階段交付，循序漸進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分階段投入明細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858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33832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Intellicon 主要工項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1 啟動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W1-W4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Kickoff、業務深度訪談主持、SOP 共創、知識庫架構指導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2 基礎建置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W5-W10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高難度 Prompt v1、雙 Agent 協作邏輯、第一輪驗測陪審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36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3 迭代調優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W11-W16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高難度 Prompt v2 調優、與資深業務對齊、第二輪驗測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4 擴展優化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W17-W22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場景擴展指導、跨 Agent 協作優化、第三輪驗測、Final Review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5 培訓交接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W23-W26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種子團隊培訓主講、教材製作、試運行、結案、知識交接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 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兩案併行（Intellicon 顧問時數）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150 h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371600"/>
            <a:ext cx="4160520" cy="21945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1508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顧問總時數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1828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150 小時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726680" y="2697480"/>
            <a:ext cx="3886200" cy="0"/>
          </a:xfrm>
          <a:prstGeom prst="line">
            <a:avLst/>
          </a:prstGeom>
          <a:noFill/>
          <a:ln w="19050">
            <a:solidFill>
              <a:srgbClr val="D4A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27889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個月  ｜  26 週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26680" y="31546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分階段交付，循序漸進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3703320"/>
            <a:ext cx="4160520" cy="260604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3794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分工原則的兩個關鍵設計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26680" y="42062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聚焦四個高槓桿環節：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4526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高難度提示詞撰寫（Phase 2 + Phase 3）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Review 與品質把關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資深業務判斷邏輯對齊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種子團隊培訓（Phase 5）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26680" y="5623560"/>
            <a:ext cx="388620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715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個月節奏的關鍵價值：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0" y="5989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 Phase 之間的緩衝期讓 GM 數發處有充裕時間執行、迭代、累積經驗。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總管理處稽核機制  ｜  六大稽核點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讓專案進度、資源、AI 行為品質都能被定期審視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雙週進度燈號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對照甘特圖工項，紅黃綠燈呈現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1089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負責：PM 提交、總管理處審視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頻率：雙週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16002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1600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階段交付物簽核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SOP、知識庫、行為規範、提示詞、驗測報告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1089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負責：GM 主管 + 總管理處共同簽核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頻率：每階段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14173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6002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15400" y="1600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顧問工時月結對帳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逐週工時表 + 工項對應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0" y="31089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負責：總管理處對帳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6676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頻率：每月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3444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Autonomous Agent 研究輸入完整度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每個商機案需附 Autonomous Agent 報告或同等素材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56235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負責：資料閘門通過硬條件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" y="5989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97680" y="3931920"/>
            <a:ext cx="3703320" cy="2331720"/>
          </a:xfrm>
          <a:prstGeom prst="rect">
            <a:avLst/>
          </a:prstGeom>
          <a:solidFill>
            <a:srgbClr val="E9DEF6"/>
          </a:solidFill>
          <a:ln w="25400">
            <a:solidFill>
              <a:srgbClr val="D4A9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4114800"/>
            <a:ext cx="502920" cy="502920"/>
          </a:xfrm>
          <a:prstGeom prst="ellipse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7492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資料閘門通過率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2628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啟動「資料閘門退回」次數與原因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26280" y="5623560"/>
            <a:ext cx="3246120" cy="0"/>
          </a:xfrm>
          <a:prstGeom prst="line">
            <a:avLst/>
          </a:prstGeom>
          <a:noFill/>
          <a:ln w="6350">
            <a:solidFill>
              <a:srgbClr val="D4A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負責：稽核 AI「不亂推論」的核心指標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26280" y="5989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頻率：每月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38160" y="39319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41148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210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1540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上線後 KPI 追蹤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36676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新商機數、轉換率、得標率、報價週期、毛利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366760" y="56235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負責：GM 業務主管 + 總管理處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366760" y="5989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頻率：上線後每月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後續擴展藍圖  ｜  三層架構 + 跨事業群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每季新增 2-3 個 Agent，Intellicon 從主導逐步轉為教練陪跑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3657600"/>
          </a:xfrm>
          <a:prstGeom prst="rect">
            <a:avLst/>
          </a:prstGeom>
          <a:solidFill>
            <a:srgbClr val="F4EFFA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8686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業務前段（本案範圍）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啟動：本案 6 個月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商機分析師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報價策略決策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417320"/>
            <a:ext cx="3703320" cy="3657600"/>
          </a:xfrm>
          <a:prstGeom prst="rect">
            <a:avLst/>
          </a:prstGeom>
          <a:solidFill>
            <a:srgbClr val="F4EFFA"/>
          </a:solidFill>
          <a:ln w="19050">
            <a:solidFill>
              <a:srgbClr val="5D48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417320"/>
            <a:ext cx="3703320" cy="8686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業務中後段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628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啟動：本案結案後 3-6 個月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880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訂單交期承諾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客戶健診（流失預警）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技術問答（產品規格與應用）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417320"/>
            <a:ext cx="3703320" cy="3657600"/>
          </a:xfrm>
          <a:prstGeom prst="rect">
            <a:avLst/>
          </a:prstGeom>
          <a:solidFill>
            <a:srgbClr val="F4EFFA"/>
          </a:solidFill>
          <a:ln w="19050">
            <a:solidFill>
              <a:srgbClr val="3D2F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417320"/>
            <a:ext cx="3703320" cy="8686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工程與供應鏈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6676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啟動：本案結案後 12 個月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2880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規格選型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工程圖面查找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供應商評估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設備故障診斷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跨事業群擴展可能性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商機分析師與報價策略 Agent 在 GM 完成驗證後，可快速複製至電力能源（PE）與空調科技（HT）事業群。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Autonomous Agent 訊號層由數發處跨事業群共用，這是本架構長期 ROI 最高的部分。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下一步行動清單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從立即行動到 6 個月內，明確的時程與責任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GM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/ 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行動項目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負責單位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立即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確認本規劃書方向；安排 GM 業務深度訪談排程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GM 業務主管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週內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東元數發處啟動 Autonomous Agent 技術環境規劃；確認 POC 目標客戶清單（3-5 家 KA）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數發處 + GM 業務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週內（Phase 1 啟動）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Kickoff Meeting；種子團隊組成（PM 加 1-2 工程師）；資料源盤點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GM + Intellicon + 總管理處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個月（Phase 1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GM 業務深度訪談與 SOP 共創完成；知識庫骨架建置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 個月（Phase 2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MVP 雛形完成；第一輪驗測通過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個月（Phase 3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v2 內部試用上線；KPI 量測初步結果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5.5 個月（Phase 4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場景擴展、跨 Agent 協作優化、Final Review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個月（Phase 5 結案）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種子團隊培訓認證、正式上線；評估跨事業群（PE / HT）複製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GM + PE + HT + 總管理處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給總管理處的具體請求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核准本規劃書與 150 小時顧問時數估算 ｜ 指派一位協調窗口參與雙週進度會議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批准 GM 種子團隊（1 PM + 1-2 工程師）6 個月投入承諾 ｜ 批准數發處建置 Autonomous Agent 技術環境資源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確認資料閘門通過率作為核心稽核指標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東元 GM AI Agent 導入規劃書</dc:title>
  <dc:subject>PptxGenJS Presentation</dc:subject>
  <dc:creator>智慧方案股份有限公司</dc:creator>
  <cp:lastModifiedBy>智慧方案股份有限公司</cp:lastModifiedBy>
  <cp:revision>1</cp:revision>
  <dcterms:created xsi:type="dcterms:W3CDTF">2026-05-10T06:07:33Z</dcterms:created>
  <dcterms:modified xsi:type="dcterms:W3CDTF">2026-05-10T06:07:33Z</dcterms:modified>
</cp:coreProperties>
</file>