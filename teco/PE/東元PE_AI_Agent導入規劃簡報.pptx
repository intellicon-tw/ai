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7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東元電機 電力能源事業群（PE）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導入規劃書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銷售流程引導  ×  合約／文件判讀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單層 EgentHub × 組織級知識累積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754880"/>
            <a:ext cx="4572000" cy="0"/>
          </a:xfrm>
          <a:prstGeom prst="line">
            <a:avLst/>
          </a:prstGeom>
          <a:noFill/>
          <a:ln w="25400">
            <a:solidFill>
              <a:srgbClr val="D4A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Intellicon 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EgentHub 企業 AI Agent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議程 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本案涵蓋 PE 案件全生命週期的兩個關鍵負擔，從設計理念到實施稽核共九個章節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業務的兩大關鍵負擔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銷售估算 + 合約判讀的人工負擔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本案的設計理念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五項核心原則、單層 EgentHub 架構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題目一：銷售流程引導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題目二：合約／文件判讀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場景、資料、SOP、知識庫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實施規劃與時程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五階段、5 個月甘特圖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10896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約 130 小時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1732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六大稽核點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1208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組織級知識累積藍圖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三大知識庫的長期價值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663440"/>
            <a:ext cx="3657600" cy="1371600"/>
          </a:xfrm>
          <a:prstGeom prst="rect">
            <a:avLst/>
          </a:prstGeom>
          <a:solidFill>
            <a:srgbClr val="F4EFFA"/>
          </a:solidFill>
          <a:ln w="6350">
            <a:solidFill>
              <a:srgbClr val="E9DE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00684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下一步行動建議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66760" y="5376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立即至 5 個月行動清單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業務的兩大關鍵負擔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案件全生命週期中，兩個讓資深專業知識難以規模化的痛點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623560" cy="4937760"/>
          </a:xfrm>
          <a:prstGeom prst="rect">
            <a:avLst/>
          </a:prstGeom>
          <a:solidFill>
            <a:srgbClr val="E9DEF6"/>
          </a:solidFill>
          <a:ln w="1524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5623560" cy="77724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負擔一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銷售流程與案件估算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估算資訊散落多處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249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設備單價、人月配比、SOP、估算公式、歷史案件分散在 Excel、文件、PM 腦中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新人上手週期長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935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經驗難以結構化，新人往往要兩年才能獨立估完整 EPC 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跨案件經驗難複用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462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 PM 各自累積經驗，組織層級的學習曲線無法被加速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5029200"/>
            <a:ext cx="274320" cy="2743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退休帶走隱性知識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5330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口述傳承不可靠，知識斷層直接影響營運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E9DEF6"/>
          </a:solidFill>
          <a:ln w="15240">
            <a:solidFill>
              <a:srgbClr val="5D48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371600"/>
            <a:ext cx="5486400" cy="77724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負擔二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合約／文件判讀與義務追蹤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92240" y="2423160"/>
            <a:ext cx="274320" cy="274320"/>
          </a:xfrm>
          <a:prstGeom prst="ellipse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合約頁數多、條款雜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2724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頁以上，混合商業、技術、法務、風險條款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3291840"/>
            <a:ext cx="274320" cy="274320"/>
          </a:xfrm>
          <a:prstGeom prst="ellipse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跨角色關注點不同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3593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業務、PM、法務、技術各看各的，紅旗條款容易漏接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92240" y="4160520"/>
            <a:ext cx="274320" cy="274320"/>
          </a:xfrm>
          <a:prstGeom prst="ellipse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東元慣用版本對齊困難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0" y="4462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客戶交來的合約與內部標準有何差異？人工比對耗時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92240" y="5029200"/>
            <a:ext cx="274320" cy="274320"/>
          </a:xfrm>
          <a:prstGeom prst="ellipse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歷史風險案例沒有沉澱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0" y="5330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踩過的坑沒有系統化記錄，下個案件可能踩到同一個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本案的五項核心設計原則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其中原則二「文件完整性閘門」與原則四「跨角色視角」是 PE 案的特有設計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流程優先於模型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先定義「PE 業務應該如何跑估算 SOP、應該如何判讀合約風險」，AI 才介入輔助每個步驟。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703320" cy="2468880"/>
          </a:xfrm>
          <a:prstGeom prst="rect">
            <a:avLst/>
          </a:prstGeom>
          <a:solidFill>
            <a:srgbClr val="E9DEF6"/>
          </a:solidFill>
          <a:ln w="15240">
            <a:solidFill>
              <a:srgbClr val="D4A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371600"/>
            <a:ext cx="118872" cy="246888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95160" y="1554480"/>
            <a:ext cx="868680" cy="274320"/>
          </a:xfrm>
          <a:prstGeom prst="rect">
            <a:avLst/>
          </a:prstGeom>
          <a:solidFill>
            <a:srgbClr val="D4A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特有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文件完整性是硬閘門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028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合約少一頁、附件不齊、估算欄位缺失時，Agent 主動退回要求補資料，不對殘缺資訊做判讀。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371600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371600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30768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判斷邏輯與資料分離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30768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判斷規則內建於 Agent 行為規範；條款庫、風險案例、估算項目、設備單價則存於企業知識庫。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3703320" cy="2468880"/>
          </a:xfrm>
          <a:prstGeom prst="rect">
            <a:avLst/>
          </a:prstGeom>
          <a:solidFill>
            <a:srgbClr val="E9DEF6"/>
          </a:solidFill>
          <a:ln w="15240">
            <a:solidFill>
              <a:srgbClr val="D4A9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05072"/>
            <a:ext cx="118872" cy="246888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42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154680" y="4187952"/>
            <a:ext cx="868680" cy="274320"/>
          </a:xfrm>
          <a:prstGeom prst="rect">
            <a:avLst/>
          </a:prstGeom>
          <a:solidFill>
            <a:srgbClr val="D4A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特有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跨角色視角支援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519379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業務、PM、法務、技術問同一份合約，Agent 依角色提供不同視角的回應，聚焦各自關注點。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4005072"/>
            <a:ext cx="3703320" cy="2468880"/>
          </a:xfrm>
          <a:prstGeom prst="rect">
            <a:avLst/>
          </a:prstGeom>
          <a:solidFill>
            <a:srgbClr val="F4EFFA"/>
          </a:solidFill>
          <a:ln w="15240">
            <a:solidFill>
              <a:srgbClr val="8A7A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4005072"/>
            <a:ext cx="118872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4142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90288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人機協作，不是全自動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90288" y="519379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的責任是加速、結構化、指出不確定性。最終估算數字與合約簽核仍由人決策。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005072"/>
            <a:ext cx="3703320" cy="2468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 5 項原則同時存在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0" y="4690872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5 項原則合在一起，是 PE 案 AI Agent 的「行為憲法」 — 文件完整性閘門讓 AI 不亂判讀殘缺合約；跨角色視角讓 AI 能服務 PE 全部 5 個角色；其他三項是流程、資料、協作的基本盤。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整體架構：單層 EgentHub × 雙階段對應雙題目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兩個題目對應 PE 案件全生命週期的兩個關鍵階段，所有 Agent 都運行在 EgentHub 平台上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案件全生命週期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623560" cy="411480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562356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事前：報價估算階段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銷售流程引導 + 估算作業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25603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5D4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估算作業查詢助手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即時查設備單價、人月、歷史案件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429000"/>
            <a:ext cx="25603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8A7A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銷售流程引導助手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 Phase 1-7 SOP，產出完整估算引導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設備單價表 ｜ 歷史案件 ｜ 人月配比 ｜ 估算項目對照 ｜ SOP 文件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874520"/>
            <a:ext cx="5486400" cy="4114800"/>
          </a:xfrm>
          <a:prstGeom prst="rect">
            <a:avLst/>
          </a:prstGeom>
          <a:solidFill>
            <a:srgbClr val="E9DEF6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874520"/>
            <a:ext cx="548640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9933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事中事後：合約管理階段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465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合約／文件判讀與問答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6520" y="3429000"/>
            <a:ext cx="251460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8A7A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合約解析助手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輔助型 ｜ 條件式兩階段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解析合約 PDF 結構、條款分類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0" y="3429000"/>
            <a:ext cx="25146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5D489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1.4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8116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合約問答助手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8116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Agent ｜ 條件式兩階段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8116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1-7 SOP，跨角色視角問答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上傳合約 PDF ｜ PE 標準合約條款庫 ｜ 過往合約風險案例庫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 Agent 都運行在同一個 EgentHub 工作室中；資源集中投入「組織級知識累積」這個 PE 真正的核心戰場。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三大組織級知識庫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本案最有長期價值的資產 — 持續累積與更新，最終成為 PE 真正的「決策大腦」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164592" cy="9144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是工具，組織級知識庫才是長期資產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本案會把 PE 內部分散的 SOP、設備單價、合約條款、風險案例整理成 3 個結構化知識庫。這些知識庫會隨著每次案件結案、每份合約簽訂、每次風險處理持續更新，是本案最有長期價值的產出。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3703320" cy="77724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估算項目與歷史案件庫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服務銷售流程引導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設備標準單價、人月配比、估算公式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歷史案件實際成本、毛利、工期紀錄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新人快速上手的學習教材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3200400" cy="0"/>
          </a:xfrm>
          <a:prstGeom prst="line">
            <a:avLst/>
          </a:prstGeom>
          <a:noFill/>
          <a:ln w="6350">
            <a:solidFill>
              <a:srgbClr val="8A7A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每個案件結案後，由 PM 回填實際成本與毛利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514600"/>
            <a:ext cx="3703320" cy="77724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標準合約條款庫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服務合約問答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東元慣用合約版本（商業 / 技術 / 法務 / 風險）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紅旗條款警示與修訂建議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新合約 review 的快速比對基準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5532120"/>
            <a:ext cx="3200400" cy="0"/>
          </a:xfrm>
          <a:prstGeom prst="line">
            <a:avLst/>
          </a:prstGeom>
          <a:noFill/>
          <a:ln w="6350">
            <a:solidFill>
              <a:srgbClr val="5D48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法務每季 review 並更新；遇到客戶提出新條款時補入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2514600"/>
            <a:ext cx="3703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2514600"/>
            <a:ext cx="3703320" cy="77724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過往合約風險案例庫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3429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服務合約問答 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發生過的合約糾紛與處理方式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風險類型分類與損失區間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新人法務的訓練素材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5532120"/>
            <a:ext cx="3200400" cy="0"/>
          </a:xfrm>
          <a:prstGeom prst="line">
            <a:avLst/>
          </a:prstGeom>
          <a:noFill/>
          <a:ln w="6350">
            <a:solidFill>
              <a:srgbClr val="3D2F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回饋更新機制：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每次合約糾紛或近似案例發生時，由法務 + PM 回填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三庫合一 = PE 決策大腦：估算階段同時引用「估算項目庫 + 歷史案件 + 風險提示」；合約階段同時引用「標準條款 + 過往風險」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三方協作分工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本案涉及三個關鍵單位的協作，讓每個單位都能在熟悉的領域發揮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9144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東元數發處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主執行（Execution）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EgentHub 知識庫資料準備（SOP 文件、CSV、PM 系統拋接）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簡單提示詞撰寫與迭代測試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後修正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上線部署與後續維運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3246120" cy="0"/>
          </a:xfrm>
          <a:prstGeom prst="line">
            <a:avLst/>
          </a:prstGeom>
          <a:noFill/>
          <a:ln w="9525">
            <a:solidFill>
              <a:srgbClr val="8A7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投入週期：1-2 位專責人員，全程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417320"/>
            <a:ext cx="3703320" cy="91440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顧問團隊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主指導（Coaching）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策略指導、SOP 與條款庫骨架共創主持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高難度提示詞撰寫（資料閘門、文件完整性閘門、跨角色視角）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種子團隊培訓與陪跑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5349240"/>
            <a:ext cx="3246120" cy="0"/>
          </a:xfrm>
          <a:prstGeom prst="line">
            <a:avLst/>
          </a:prstGeom>
          <a:noFill/>
          <a:ln w="9525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投入週期：約 130 小時，5 個月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45720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417320"/>
            <a:ext cx="3703320" cy="91440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業務團隊（種子）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主共創（Co-creation）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主要職責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提供銷售估算 SOP、合約判讀方法論、條款庫初版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組成種子團隊（PM 加 1-2 工程師）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Agent 並回饋迭代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與法務深度訪談（前 3 週為主）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5349240"/>
            <a:ext cx="3246120" cy="0"/>
          </a:xfrm>
          <a:prstGeom prst="line">
            <a:avLst/>
          </a:prstGeom>
          <a:noFill/>
          <a:ln w="9525">
            <a:solidFill>
              <a:srgbClr val="3D2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投入週期：全專案週期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此外：PE 與總管理處於雙週節點稽核專案進度與成果；PE 資深 PM 與法務（受訪者）於前 3 週深度訪談協助提取判斷邏輯與條款風險知識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銷售流程引導 + 估算作業 AI Agent  ｜  場景 × 資料 × 輸出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讓資深 PM 的隱性知識變成新人即時可取用的組織資產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應用場景（業務流程）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業務（資深 PM、新進業務、跨部門支援人員）做專案估算與投標時，可以兩種模式使用本 Agent：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即時查詢：問什麼馬上回答（例如「3MW 太陽能 EPC 設備費怎麼估？」）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完整流程引導：跑 Phase 1-7，產出該案件的完整估算流程指引。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資料輸入與來源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46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業務查詢：以自然語言提問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案件特徵：客戶、案件類型、容量規模、地區、預定工期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內部 SOP 文件：銷售估算 SOP、簽核流程、投標 checklist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結構化資料表：設備標準單價、歷史案件、人月配比、估算項目對照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規則檔：估算公式、毛利率底線、預備金比例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3703320" cy="6400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預期輸出內容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依問題類型給不同輸出。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6760" y="3749040"/>
            <a:ext cx="3246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簡單查詢：直接答案 + KB 引用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完整引導：估算流程清單 + 公式 + 檢核點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歷史案件比對與金額區間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風險提示與毛利區間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資料不足時明確列出補資料清單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銷售流程引導  ｜  任務步驟（Phase 1 至 Phase 7）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2「資料閘門」確保 AI 不對殘缺案件特徵做估算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問題分類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判別使用者是「即時查詢」還是「完整流程引導」需求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482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0312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資料盤點與缺口確認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盤點案件特徵是否齊全（類型、規模、地區）；缺口時給「資訊充分度評分」，&lt;60 不給數字答案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9417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流程節點對應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根據案件類型，定位到對應 SOP 流程節點與估算項目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009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估算公式與單價查詢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查設備標準單價、估算項目對照、人月配比表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4088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歷史案件比對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找近 3 年同類型／規模／地區的相似案件，金額區間呈現並標可信度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3193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68680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整合輸出建議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估算建議 + 檢核點 + 援引案例 + 風險提示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782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778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33272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72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241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依問題類型給簡單答案或完整估算流程指引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是 EgentHub Agent 的核心戰場（查 KB、比對歷史案件、整合建議）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2「資料閘門」是稽核 AI 是否亂推論的關鍵設計。資料不全時 AI 只給「資訊充分度評分」，不給數字答案。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題目一  銷售流程引導  ｜  知識庫需求 與 雙 Agent 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知識庫需求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全文查找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銷售估算 SOP、簽核流程、投標 checklist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應用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設備標準單價、歷史案件、人月配比、估算項目對照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本案核心資料源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估算公式、毛利率底線、預備金比例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業務主管制定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架構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572000" cy="169164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1：估算作業查詢助手（輔助型）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使用時機：業務即時查詢時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接收業務的即時查詢（單價、人月、SOP 步驟），快速給單點答案 + KB 引用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657600"/>
            <a:ext cx="4572000" cy="260604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657600"/>
            <a:ext cx="4572000" cy="4114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2：銷售流程引導助手（核心 Agent）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業務的完整流程入口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負責完整 SOP（Phase 1 至 Phase 7）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9377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流程節點對應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估算公式與單價查詢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歷史案件比對與區間估算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整合估算流程指引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規模判斷：中型專案。最大工程是 PE 銷售估算 SOP 整理與 PM 系統歷史案件拋接，由數發處主執行。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合約／文件判讀與問答 AI Agent  ｜  場景 × 資料 × 輸出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支援跨角色視角 — 業務、PM、法務、技術問同一份合約，得到聚焦的答案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應用場景（業務流程）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業務、PM、法務、技術人員在合約簽訂前後，將合約 PDF（或標案文件、技術規範）上傳給 Agent。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解析合約結構、萃取義務與風險條款，並支援問答式查詢。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每個答覆附帶原文引用（含頁碼），方便跨部門對齊。同一份合約，依使用者角色提供不同視角的回答。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資料輸入與來源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46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 PDF / Word（業務上傳）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標案文件、技術規範書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業務問題：條款查詢、義務檢核、風險識別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標準合約條款庫：東元慣用版本、紅旗條款警示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過往合約風險案例：發生過的風險、處理方式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703320" cy="4937760"/>
          </a:xfrm>
          <a:prstGeom prst="rect">
            <a:avLst/>
          </a:prstGeom>
          <a:solidFill>
            <a:srgbClr val="F4EFFA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3703320" cy="6400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預期輸出內容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依問題類型給不同輸出。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66760" y="4206240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合約摘要 + 結構化條款清單（4 類）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紅旗條款警示與東元慣用版本差異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問答回應 + 原文引用（含頁碼）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依使用者角色調整聚焦點與用語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歷史風險案例比對提示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合約／文件判讀與問答  ｜  任務步驟（Phase 1 至 Phase 7）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1-2 文件完整性閘門：殘缺合約一律退回要求補件，不做判讀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文件理解與完整性檢查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讀合約 PDF、建立章節索引；檢查文件完整性（章節、附件、頁碼）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482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03120" y="1463040"/>
            <a:ext cx="1591056" cy="3657600"/>
          </a:xfrm>
          <a:prstGeom prst="rect">
            <a:avLst/>
          </a:prstGeom>
          <a:solidFill>
            <a:srgbClr val="FFE9D6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463040"/>
            <a:ext cx="1591056" cy="594360"/>
          </a:xfrm>
          <a:prstGeom prst="rect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資料盤點與缺口確認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若文件不完整或缺附件，提醒補上再分析；不允許對殘缺合約做判讀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硬閘門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9417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條款結構化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把條款分類為商業／技術／法務／風險四類，標頁碼與原文摘要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009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9496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義務與風險萃取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 PE 標準條款庫，標示「東元慣用版本差異」「紅旗條款警示」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8601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04088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歷史風險案例比對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對照過往風險案例，識別是否曾有類似條款引發風險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3232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3193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86800" y="1463040"/>
            <a:ext cx="1591056" cy="365760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0" y="1463040"/>
            <a:ext cx="1591056" cy="5943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問答回應（跨角色）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7824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依使用者角色調整視角；附原文引用、慣用版本對照、修訂建議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4754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核心戰場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277856" y="3291840"/>
            <a:ext cx="54864" cy="0"/>
          </a:xfrm>
          <a:prstGeom prst="line">
            <a:avLst/>
          </a:prstGeom>
          <a:noFill/>
          <a:ln w="1270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332720" y="1463040"/>
            <a:ext cx="1591056" cy="365760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32720" y="1463040"/>
            <a:ext cx="1591056" cy="59436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0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332720" y="1755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424160" y="2194560"/>
            <a:ext cx="1408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合約摘要 + 義務檢核表 + 風險條款警示 + 問答記錄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是核心戰場：條款庫對照、紅旗識別、跨角色視角問答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文件完整性閘門設計避免 AI 對殘缺合約做出「沒看到紅旗條款」的錯誤結論。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題目二  合約／文件判讀  ｜  知識庫需求 與 雙 Agent 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知識庫需求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全文查找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業務上傳的合約 PDF / 標案文件 / 技術規範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即時讀取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標準合約條款庫（東元慣用版本、紅旗條款）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本案關鍵資料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表格庫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過往合約風險案例庫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風險識別關鍵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東元法務簽核準則、跨角色視角規則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法務主管制定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架構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572000" cy="1691640"/>
          </a:xfrm>
          <a:prstGeom prst="rect">
            <a:avLst/>
          </a:prstGeom>
          <a:solidFill>
            <a:srgbClr val="F4EFFA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1：合約解析助手（輔助型）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使用時機：上傳合約 PDF 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解析合約 PDF 結構、條款分類、文件完整性檢查、產出合約摘要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657600"/>
            <a:ext cx="4572000" cy="2606040"/>
          </a:xfrm>
          <a:prstGeom prst="rect">
            <a:avLst/>
          </a:prstGeom>
          <a:solidFill>
            <a:srgbClr val="E9DEF6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657600"/>
            <a:ext cx="4572000" cy="4114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2：合約問答助手（核心）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業務的完整流程入口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負責完整 SOP（Phase 1 至 Phase 7）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9377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 PE 標準條款庫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義務與風險條款萃取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歷史風險案例比對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跨角色視角問答回應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規模判斷：中大型專案，吃條款結構化精度與法務知識深度。最大挑戰是條款庫與風險案例庫的整理。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實施規劃  ｜  5 個月、五階段甘特圖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兩案併行，分階段推進，讓 PE 數發處有充裕時間消化、迭代與優化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/ 工項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87783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41817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95851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49886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57954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11989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80114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70171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778240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450286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704320" y="1371600"/>
            <a:ext cx="0" cy="3931920"/>
          </a:xfrm>
          <a:prstGeom prst="line">
            <a:avLst/>
          </a:prstGeom>
          <a:noFill/>
          <a:ln w="9525">
            <a:solidFill>
              <a:srgbClr val="D5C8E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182880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11226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9572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7919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6265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4612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1304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96512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79976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46904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230368"/>
            <a:ext cx="11247120" cy="0"/>
          </a:xfrm>
          <a:prstGeom prst="line">
            <a:avLst/>
          </a:prstGeom>
          <a:noFill/>
          <a:ln w="6350">
            <a:solidFill>
              <a:srgbClr val="E9DE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業務訪談 + SOP / 估算項目庫共創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44368" y="1874520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法務訪談 + 合約方法論 / 條款庫共創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231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44368" y="2157984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432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v1（資料閘門、Phase 2-3）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23160" y="2432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98402" y="2441448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 Prompt v1（文件完整性閘門）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23160" y="2715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98402" y="2724912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Agent 雛形 + 第一輪驗測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23160" y="2999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52437" y="3008376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2826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估算邏輯 v2 調優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32826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88459" y="3291840"/>
            <a:ext cx="1217458" cy="192024"/>
          </a:xfrm>
          <a:prstGeom prst="rect">
            <a:avLst/>
          </a:prstGeom>
          <a:solidFill>
            <a:srgbClr val="8A7AD2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4-6 合約問答 v2 調優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23160" y="3566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88459" y="3575304"/>
            <a:ext cx="1217458" cy="192024"/>
          </a:xfrm>
          <a:prstGeom prst="rect">
            <a:avLst/>
          </a:prstGeom>
          <a:solidFill>
            <a:srgbClr val="5D489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38496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/ 法務對齊 + 第二輪驗測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423160" y="3849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542494" y="3858768"/>
            <a:ext cx="1217458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場景擴展（更多案件類型 / 複雜合約）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423160" y="4133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796528" y="4142232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 Agent 協作優化 + 第三輪驗測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23160" y="4416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632551" y="4425696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7000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 + 教材製作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423160" y="4700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468574" y="4709160"/>
            <a:ext cx="799447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試運行 + 正式上線 + 結案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42316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304597" y="4992624"/>
            <a:ext cx="381435" cy="192024"/>
          </a:xfrm>
          <a:prstGeom prst="rect">
            <a:avLst/>
          </a:prstGeom>
          <a:solidFill>
            <a:srgbClr val="3D2F6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5349240"/>
            <a:ext cx="274320" cy="1828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銷售案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286000" y="5349240"/>
            <a:ext cx="274320" cy="1828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517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合約案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114800" y="5349240"/>
            <a:ext cx="274320" cy="1828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兩案共用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啟動 (W1-3) 24h　|　Phase 2 基礎建置 (W4-8) 32h　|　Phase 3 迭代調優 (W9-14) 28h　|　Phase 4 擴展優化 (W15-18) 20h　|　Phase 5 培訓交接 (W19-21) 26h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個月、21 週、合計約 130 小時 — 各 Phase 之間的執行緩衝期，讓 PE 數發處能充分消化每階段成果、累積實作經驗。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顧問時數估算  ｜  5 個月  約 130 小時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指導 + 東元數發處執行 + PE 種子團隊共創 — 分階段交付，循序漸進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分階段投入明細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3383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Intellicon 主要工項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 啟動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W1-W3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Kickoff、業務／法務深度訪談、SOP 與條款庫骨架共創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基礎建置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W4-W8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高難度 Prompt v1（資料閘門、文件完整性閘門）、雙 Agent 雛形、第一輪驗測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3 迭代調優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W9-W14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Prompt v2 調優、與資深 PM／法務對齊、第二輪驗測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4 擴展優化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W15-W18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場景擴展指導、跨 Agent 協作優化、第三輪驗測、Final Review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48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5 培訓交接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W19-W21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種子團隊培訓主講、教材製作、試運行、結案、知識交接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 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 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兩案併行（Intellicon 顧問時數）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130 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F6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371600"/>
            <a:ext cx="4160520" cy="219456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1508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顧問總時數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130 小時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726680" y="2697480"/>
            <a:ext cx="3886200" cy="0"/>
          </a:xfrm>
          <a:prstGeom prst="line">
            <a:avLst/>
          </a:prstGeom>
          <a:noFill/>
          <a:ln w="19050">
            <a:solidFill>
              <a:srgbClr val="D4A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2788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個月  ｜  21 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3154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D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分階段交付，循序漸進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703320"/>
            <a:ext cx="4160520" cy="260604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分工原則的兩個關鍵設計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26680" y="42062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Intellicon 聚焦四個高槓桿環節：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高難度提示詞撰寫（資料閘門、文件完整性閘門）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與品質把關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 PM 與法務判斷邏輯對齊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種子團隊培訓（Phase 5）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26680" y="5623560"/>
            <a:ext cx="388620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715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個月節奏的關鍵價值：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5989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Phase 之間的緩衝期讓 PE 數發處有充裕時間執行、迭代、累積經驗。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總管理處稽核機制  ｜  六大稽核點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讓專案進度、資源、AI 行為品質都能被定期審視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雙週進度燈號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對照甘特圖工項，紅黃綠燈呈現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負責：PM 提交、總管理處審視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頻率：雙週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階段交付物簽核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SOP、知識庫、行為規範、提示詞、驗測報告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負責：PE 主管 + 總管理處共同簽核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頻率：每階段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6002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15400" y="1600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顧問工時月結對帳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逐週工時表 + 工項對應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1089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負責：總管理處對帳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Autonomous Agent 研究輸入完整度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每個商機案需附 Autonomous Agent 報告或同等素材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負責：資料閘門通過硬條件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3931920"/>
            <a:ext cx="3703320" cy="2331720"/>
          </a:xfrm>
          <a:prstGeom prst="rect">
            <a:avLst/>
          </a:prstGeom>
          <a:solidFill>
            <a:srgbClr val="E9DEF6"/>
          </a:solidFill>
          <a:ln w="25400">
            <a:solidFill>
              <a:srgbClr val="D4A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D4A95C"/>
          </a:solidFill>
          <a:ln w="12700">
            <a:solidFill>
              <a:srgbClr val="D4A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7492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資料閘門通過率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2628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啟動「資料閘門退回」次數與原因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26280" y="5623560"/>
            <a:ext cx="3246120" cy="0"/>
          </a:xfrm>
          <a:prstGeom prst="line">
            <a:avLst/>
          </a:prstGeom>
          <a:noFill/>
          <a:ln w="6350">
            <a:solidFill>
              <a:srgbClr val="D4A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負責：稽核 AI「不亂推論」的核心指標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2628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頻率：每月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703320" cy="2331720"/>
          </a:xfrm>
          <a:prstGeom prst="rect">
            <a:avLst/>
          </a:prstGeom>
          <a:solidFill>
            <a:srgbClr val="F4EFFA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1540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 KPI 追蹤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6676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新商機數、轉換率、得標率、報價週期、毛利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66760" y="5623560"/>
            <a:ext cx="3246120" cy="0"/>
          </a:xfrm>
          <a:prstGeom prst="line">
            <a:avLst/>
          </a:prstGeom>
          <a:noFill/>
          <a:ln w="6350">
            <a:solidFill>
              <a:srgbClr val="D5C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5715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負責：PE 業務主管 + 總管理處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66760" y="5989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頻率：上線後每月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後續擴展藍圖  ｜  PE 三大知識庫的長期擴展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本案結案後，三大知識庫持續累積，逐步擴展案件類型與應用情境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8A7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86868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3-6 個月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啟動：PE 數發處主導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擴展案件類型（離岸風電、車用動力、海外合約）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更多歷史案件回填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條款庫每季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5D48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17320"/>
            <a:ext cx="3703320" cy="868680"/>
          </a:xfrm>
          <a:prstGeom prst="rect">
            <a:avLst/>
          </a:prstGeom>
          <a:solidFill>
            <a:srgbClr val="5D4894"/>
          </a:solidFill>
          <a:ln w="12700">
            <a:solidFill>
              <a:srgbClr val="5D4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6-12 個月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啟動：PE 數發處與 IT 部門合作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PM 系統，案件全週期追蹤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條款庫與 ERP 雙向同步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知識庫管理介面建置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417320"/>
            <a:ext cx="3703320" cy="3657600"/>
          </a:xfrm>
          <a:prstGeom prst="rect">
            <a:avLst/>
          </a:prstGeom>
          <a:solidFill>
            <a:srgbClr val="F4EFFA"/>
          </a:solidFill>
          <a:ln w="19050">
            <a:solidFill>
              <a:srgbClr val="3D2F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417320"/>
            <a:ext cx="3703320" cy="868680"/>
          </a:xfrm>
          <a:prstGeom prst="rect">
            <a:avLst/>
          </a:prstGeom>
          <a:solidFill>
            <a:srgbClr val="3D2F66"/>
          </a:solidFill>
          <a:ln w="12700">
            <a:solidFill>
              <a:srgbClr val="3D2F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C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本案結案後 12 個月以上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667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啟動：PE 業務團隊主導應用方向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880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 決策大腦對外延伸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業務簽約前直接調用紅旗檢核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投標前由業務調用估算試算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E9DEF6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跨事業群擴展可能性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商機分析師與報價策略 Agent 在 GM 完成驗證後，可快速複製至電力能源（PE）與空調科技（HT）事業群。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即使資深 PM 與法務退休，這份組織級記憶仍能傳承給新人 — 這是本案最有長期價值的產出。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A7A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下一步行動清單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從立即行動到 5 個月結案，明確的時程與責任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智慧方案股份有限公司  |  EgentHub 企業 AI Agent 平台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東元 PE 事業群  AI Agent 導入規劃書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負責單位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A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確認本規劃書方向；安排 PE 業務深度訪談排程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業務主管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週內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東元數發處啟動 Autonomous Agent 技術環境規劃；確認 POC 目標客戶清單（3-5 家 KA）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數發處 + PE 業務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週內（Phase 1 啟動）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Kickoff Meeting；種子團隊組成（PM 加 1-2 工程師）；資料源盤點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 + Intellicon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個月（Phase 1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業務深度訪談與 SOP 共創完成；知識庫骨架建置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 個月（Phase 2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MVP 雛形完成；第一輪驗測通過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個月（Phase 3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v2 內部試用上線；KPI 量測初步結果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5.5 個月（Phase 4 完成）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場景擴展、跨 Agent 協作優化、Final Review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 + Intellicon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7AD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個月（Phase 5 結案）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7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種子團隊培訓認證、正式上線、結案；後續擴展規劃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5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 + 總管理處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8A7AD2"/>
          </a:solidFill>
          <a:ln w="12700">
            <a:solidFill>
              <a:srgbClr val="8A7A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給總管理處的具體請求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核准本規劃書與 130 小時顧問時數估算 ｜ 指派一位協調窗口參與雙週進度會議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批准 PE 種子團隊（1 PM + 1-2 工程師）5 個月投入承諾 ｜ 批准數發處投入 PE 知識庫整理資源（含法務支援）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確認文件完整性閘門通過率與資料閘門通過率作為核心稽核指標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東元 GM AI Agent 導入規劃書</dc:title>
  <dc:subject>PptxGenJS Presentation</dc:subject>
  <dc:creator>智慧方案股份有限公司</dc:creator>
  <cp:lastModifiedBy>智慧方案股份有限公司</cp:lastModifiedBy>
  <cp:revision>1</cp:revision>
  <dcterms:created xsi:type="dcterms:W3CDTF">2026-05-10T09:03:26Z</dcterms:created>
  <dcterms:modified xsi:type="dcterms:W3CDTF">2026-05-10T09:03:26Z</dcterms:modified>
</cp:coreProperties>
</file>